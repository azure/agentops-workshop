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Every team building with GenAI hits the same question - can we safely ship this, and where is the evidence?</a:t>
            </a:r>
          </a:p>
          <a:p>
            <a:r>
              <a:t>- That is what this session addresses: the operating model for moving AI agents from prototype to production on Microsoft Foundry</a:t>
            </a:r>
          </a:p>
          <a:p>
            <a:r>
              <a:t>- Audience: AI application builders, architects, DevOps and platform teams, AI governance stakeholders, and technical decision makers</a:t>
            </a:r>
          </a:p>
          <a:p>
            <a:r>
              <a:t>- Prerequisites in the broader program: Topic 2 (AI Landing Zones) and Topic 3 (Agent Architectures)</a:t>
            </a:r>
          </a:p>
          <a:p>
            <a:r>
              <a:t>- Let us look at the agenda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have six content blocks plus demos after each pillar - here is how we have structured the story</a:t>
            </a:r>
          </a:p>
          <a:p>
            <a:r>
              <a:t>- We start with Foundations - why agents need a new operating discipline, the four-pillar model, and where teams sit today</a:t>
            </a:r>
          </a:p>
          <a:p>
            <a:r>
              <a:t>- Then the four pillars: evaluate, ship, observe, own - each followed by a live demo showing that pillar in action</a:t>
            </a:r>
          </a:p>
          <a:p>
            <a:r>
              <a:t>- We close with your next steps to maturity</a:t>
            </a:r>
          </a:p>
          <a:p>
            <a:r>
              <a:t>- Ten minutes reserved for Q&amp;A at the end</a:t>
            </a:r>
          </a:p>
          <a:p>
            <a:r>
              <a:t>- Let us start with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Teams can stand up a GenAI prototype in days - but getting to production is a different story. That gap is what we call the production gap</a:t>
            </a:r>
          </a:p>
          <a:p>
            <a:r>
              <a:t>- Production introduces new operational risk: quality, safety, monitoring, cost, ownership, and release confidence</a:t>
            </a:r>
          </a:p>
          <a:p>
            <a:r>
              <a:t>- Agents add non-determinism, tool-calling risk, prompt regression, and changing user behavior</a:t>
            </a:r>
          </a:p>
          <a:p>
            <a:r>
              <a:t>- So what exactly are we managing? The next slide breaks open the components that make an agent a production concern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What makes an agent a production concern? Not just a prompt and a model - layers of capability each bring their own operational surface</a:t>
            </a:r>
          </a:p>
          <a:p>
            <a:r>
              <a:t>- Simple prompts: system prompt + model. Operational surface is versioning, quality eval, and cost</a:t>
            </a:r>
          </a:p>
          <a:p>
            <a:r>
              <a:t>- Add RAG: knowledge sources, freshness, permissions, groundedness</a:t>
            </a:r>
          </a:p>
          <a:p>
            <a:r>
              <a:t>- Add tools: MCP servers, guardrails, auth boundaries, side effects, failure modes</a:t>
            </a:r>
          </a:p>
          <a:p>
            <a:r>
              <a:t>- Add agent autonomy: memory, orchestration, approval points, multi-step traces, loop prevention, escalation</a:t>
            </a:r>
          </a:p>
          <a:p>
            <a:r>
              <a:t>- Add multi-agent: orchestrator, sub-agents, emergent behaviour, coordination, cost spikes</a:t>
            </a:r>
          </a:p>
          <a:p>
            <a:r>
              <a:t>- Even a simple tool-using agent is at tier 3, managing all components simultaneously. Each is a versioned asset, an evaluation target, and an operational dependency</a:t>
            </a:r>
          </a:p>
          <a:p>
            <a:r>
              <a:t>- We need a platform to manage all of this - that is Foundry. Cross-reference: Topic 3 covers agent architectures in detail</a:t>
            </a:r>
          </a:p>
          <a:p>
            <a:r>
              <a:t>- So what does Foundry give us as the control plane?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We need a platform that orchestrates all these components - that platform is Microsoft Foundry, acting as the control plane</a:t>
            </a:r>
          </a:p>
          <a:p>
            <a:r>
              <a:t>- Surfaces: portal, SDK, Azure CLI / REST, and GitHub Actions</a:t>
            </a:r>
          </a:p>
          <a:p>
            <a:r>
              <a:t>- Capabilities: agents and versions, quality + safety evaluators, agent-specific evaluators, Red Teaming agent, OpenTelemetry tracing, Content Safety</a:t>
            </a:r>
          </a:p>
          <a:p>
            <a:r>
              <a:t>- Runtime: Azure AI projects, model deployments, tool / MCP servers, App Insights and Log Analytics</a:t>
            </a:r>
          </a:p>
          <a:p>
            <a:r>
              <a:t>- AgentOps adds the repeatable operating model around Foundry - it is not a replacement</a:t>
            </a:r>
          </a:p>
          <a:p>
            <a:r>
              <a:t>- Now the question becomes: what evidence do we need to prove a version is safe to ship? That is the production readiness checklist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How do we know a version is actually safe to ship? The production readiness checklist answers that</a:t>
            </a:r>
          </a:p>
          <a:p>
            <a:r>
              <a:t>- It is the contract for any production-candidate agent. Every item maps to one or more later slides</a:t>
            </a:r>
          </a:p>
          <a:p>
            <a:r>
              <a:t>- Walk the audience through each item briefly so they hold it as the mental model for the rest of the session</a:t>
            </a:r>
          </a:p>
          <a:p>
            <a:r>
              <a:t>- Now let us see the operating model that connects these items into a repeatable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tells us what evidence we need. The operating model tells us how to apply it across the agent lifecycle</a:t>
            </a:r>
          </a:p>
          <a:p>
            <a:r>
              <a:t>- AgentOps applies DevOps discipline to AI agents, where behavior is probabilistic and releases need evidence</a:t>
            </a:r>
          </a:p>
          <a:p>
            <a:r>
              <a:t>- The model has four pillars:</a:t>
            </a:r>
          </a:p>
          <a:p>
            <a:r>
              <a:t>- Evaluate pre-production behavior using golden datasets, rubrics, red teaming, and thresholds</a:t>
            </a:r>
          </a:p>
          <a:p>
            <a:r>
              <a:t>- Ship with CI/CD gates, release evidence, human approvals, environment promotion, and canary</a:t>
            </a:r>
          </a:p>
          <a:p>
            <a:r>
              <a:t>- Observe production behavior through traces, metrics, logs, content safety signals, feedback, cost, and latency</a:t>
            </a:r>
          </a:p>
          <a:p>
            <a:r>
              <a:t>- Own the workload through diagnosis, incident response, runbooks, model lifecycle, cost management, capacity management, and continuous improvement</a:t>
            </a:r>
          </a:p>
          <a:p>
            <a:r>
              <a:t>- The output is release evidence and operational confidence</a:t>
            </a:r>
          </a:p>
          <a:p>
            <a:r>
              <a:t>- Now that we know the model, the question is: where does your team sit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checklist defines what good looks like. The operating model tells you how to get there. The maturity model tells you where you are today</a:t>
            </a:r>
          </a:p>
          <a:p>
            <a:r>
              <a:t>- Initial: ad hoc demos, manual eval, no gates, scattered logs</a:t>
            </a:r>
          </a:p>
          <a:p>
            <a:r>
              <a:t>- Defined: versioned prompts and agents, pre-prod eval datasets, CI builds artefacts</a:t>
            </a:r>
          </a:p>
          <a:p>
            <a:r>
              <a:t>- Managed: quality and safety gates in CI, continuous evaluation in production, runbooks and SLOs</a:t>
            </a:r>
          </a:p>
          <a:p>
            <a:r>
              <a:t>- Optimised: drift and cost guardrails, canary plus auto-rollback, feedback flywheel</a:t>
            </a:r>
          </a:p>
          <a:p>
            <a:r>
              <a:t>- The practical move is not to boil the ocean - pick one production-candidate agent and move it up one level</a:t>
            </a:r>
          </a:p>
          <a:p>
            <a:r>
              <a:t>- Before we dive into each pillar, let us see what this model looks like as a reference architecture on Foundry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Same four-pillar model, drawn as a reference architecture on Foundry. The conceptual model becomes concrete components on the right</a:t>
            </a:r>
          </a:p>
          <a:p>
            <a:r>
              <a:t>- Inner loop "Create, Evaluate, Improve" (left column): sandbox Foundry Project for agent types / instructions / tools / models, source control in ADO or GitHub holding release candidate + CI workflow + eval evidence, authoring tools (Copilot CLI, VS Code) for prompt edits and local evals, agent frameworks (Microsoft Agent Framework, LangGraph) for orchestration and MCP tools</a:t>
            </a:r>
          </a:p>
          <a:p>
            <a:r>
              <a:t>- Outer loop "Operationalizing" (right block): Continuous Delivery via ADO or GitHub Actions promotes the agent through dev (shared development), qa (staging / test - validation and release evidence), and prod (shipping target) - each one its own Foundry Project</a:t>
            </a:r>
          </a:p>
          <a:p>
            <a:r>
              <a:t>- Pipeline chips get stricter per environment: dev runs manual tests + quality evals + safety eval; qa adds integration tests + red team; prod runs smoke tests plus blue-green or canary rollout (no re-eval - the evidence is locked at qa)</a:t>
            </a:r>
          </a:p>
          <a:p>
            <a:r>
              <a:t>- Agent runtime choice is identical in every environment: Prompt Agent (Foundry-managed prompt + tools + knowledge) or Hosted Agent (Container Image -&gt; ACR -&gt; Agent Service), with BYO Compute Custom Runtime on ACS or AKS for full control</a:t>
            </a:r>
          </a:p>
          <a:p>
            <a:r>
              <a:t>- Between qa and prod, the human Gated approval - backed by the release evidence package, not a rubber-stamp click</a:t>
            </a:r>
          </a:p>
          <a:p>
            <a:r>
              <a:t>- Observability &amp; Control (bottom): the Foundry Control Plane, organised the way the Operate nav organises it - Overview (alerts, success rate, cost), Assets (agents, models, tools), Compliance (guardrail, security posture, data governance), Quota (TPM, PTU, rate limiting)</a:t>
            </a:r>
          </a:p>
          <a:p>
            <a:r>
              <a:t>- Telemetry backend strip: Azure Monitor for dashboards + alerts, Application Insights for traces / spans / app telemetry - this is where Foundry traces flow to</a:t>
            </a:r>
          </a:p>
          <a:p>
            <a:r>
              <a:t>- Two telemetry feeds (dashed): Observability &amp; Control collects signals from dev and from prod</a:t>
            </a:r>
          </a:p>
          <a:p>
            <a:r>
              <a:t>- Feedback loop (dashed, going left): production learnings flow back into the inner loop so the next iteration of prompts, tools and evaluators is informed by what really happened in prod</a:t>
            </a:r>
          </a:p>
          <a:p>
            <a:r>
              <a:t>- With the architecture in mind, let us start with the first pillar: Evaluate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Evaluate pillar. Without a quality signal, there is nothing to ship with confidence</a:t>
            </a:r>
          </a:p>
          <a:p>
            <a:r>
              <a:t>- Start with a small golden dataset tied to real user journeys</a:t>
            </a:r>
          </a:p>
          <a:p>
            <a:r>
              <a:t>- Evaluate quality, groundedness, latency, cost, and behavior. Compare against baselines and previous versions</a:t>
            </a:r>
          </a:p>
          <a:p>
            <a:r>
              <a:t>- Promote reviewed production traces into future regression cases</a:t>
            </a:r>
          </a:p>
          <a:p>
            <a:r>
              <a:t>- A few dozen representative cases beat zero cases</a:t>
            </a:r>
          </a:p>
          <a:p>
            <a:r>
              <a:t>- Use Foundry's built-in evaluators for quality, groundedness, and agent metrics like intent resolution and tool call accuracy</a:t>
            </a:r>
          </a:p>
          <a:p>
            <a:r>
              <a:t>- The eval dataset is a living artifact - every reviewed production trace can become a new test row</a:t>
            </a:r>
          </a:p>
          <a:p>
            <a:r>
              <a:t>- But quality evaluation alone is not enough - we also need to test adversarial scenarios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Quality evaluation tells us if the answer is good - but it will not tell us if someone can make the agent misbehave. That is red teaming</a:t>
            </a:r>
          </a:p>
          <a:p>
            <a:r>
              <a:t>- Safety and quality are different signals - quality scoring will not catch a jailbreak</a:t>
            </a:r>
          </a:p>
          <a:p>
            <a:r>
              <a:t>- Foundry ships an AI Red Teaming Agent backed by Microsoft's PyRIT framework for automated adversarial testing</a:t>
            </a:r>
          </a:p>
          <a:p>
            <a:r>
              <a:t>- Four risk categories: harmful content, jailbreak (prompt injection, role hijacking), hallucination (ungrounded claims), data exfiltration (PII leakage, tool abuse)</a:t>
            </a:r>
          </a:p>
          <a:p>
            <a:r>
              <a:t>- Cadence: pre-release gate, scheduled weekly, post-incident</a:t>
            </a:r>
          </a:p>
          <a:p>
            <a:r>
              <a:t>- Findings feed the eval dataset as adversarial rows for future regression coverage</a:t>
            </a:r>
          </a:p>
          <a:p>
            <a:r>
              <a:t>- New at Build 2026: Adaptive Evaluations (preview) convert safety and governance policies directly into automated tests. Paired with ASSERT (Agent Security and Safety Evaluation Run-Time), teams can turn policies into repeatable eval coverage without hand-writing every test case</a:t>
            </a:r>
          </a:p>
          <a:p>
            <a:r>
              <a:t>- Now that we have evaluation and red teaming producing signals, how do we enforce them? That brings us to Ship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evaluation in action on Foundry: golden dataset, evaluator runs, score comparison, and the release signal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Ship pillar. Signals without enforcement are just reports nobody reads, and CI/CD gates are where DevOps discipline meets agentic systems</a:t>
            </a:r>
          </a:p>
          <a:p>
            <a:r>
              <a:t>- PR gates block bad prompts before merge</a:t>
            </a:r>
          </a:p>
          <a:p>
            <a:r>
              <a:t>- Deploy gates block bad versions before they reach the next environment</a:t>
            </a:r>
          </a:p>
          <a:p>
            <a:r>
              <a:t>- Watchdogs catch drift between releases</a:t>
            </a:r>
          </a:p>
          <a:p>
            <a:r>
              <a:t>- Every gate produces an artifact: eval report, readiness report, release evidence</a:t>
            </a:r>
          </a:p>
          <a:p>
            <a:r>
              <a:t>- New at Build 2026: Agent Control Specification (ACS) extends gates into runtime. ACS defines eight interception points across the agent lifecycle (startup, input, pre/post-model-call, pre/post-tool-call, output, shutdown) where policies are enforced as code. Works across Foundry, Microsoft Agent Framework, and LangChain. Published open-source under the Agent Governance Toolkit on GitHub</a:t>
            </a:r>
          </a:p>
          <a:p>
            <a:r>
              <a:t>- With gates enforcing quality, the next question is what happens after we ship. That is where Observe comes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CI/CD gates in action: pipeline build, evaluation gate, failed gate blocking a regression, evidence artifact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Observe pillar. Gates enforce quality before release, but once the agent is live we need to understand what it is doing and why</a:t>
            </a:r>
          </a:p>
          <a:p>
            <a:r>
              <a:t>- For agents, the unit of understanding is the trace - the chain of decisions, not just the endpoint status</a:t>
            </a:r>
          </a:p>
          <a:p>
            <a:r>
              <a:t>- Required signals: prompt, plan, model call, retrieval, tool call, safety event, latency, cost, user feedback, release version</a:t>
            </a:r>
          </a:p>
          <a:p>
            <a:r>
              <a:t>- Required correlation: trace ID, session ID, agent version, deployment, eval run, incident, owner</a:t>
            </a:r>
          </a:p>
          <a:p>
            <a:r>
              <a:t>- Without correlation, observability is just disconnected dashboards. With it, the same trace answers questions across release, runtime, evaluation, and Day-2</a:t>
            </a:r>
          </a:p>
          <a:p>
            <a:r>
              <a:t>- But signals alone are not the goal - what matters is what you do with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Collecting signals is not the end goal - what matters is turning them into action. This slide is the connective tissue of the whole session</a:t>
            </a:r>
          </a:p>
          <a:p>
            <a:r>
              <a:t>- A trace explains a failure. A reviewed trace becomes a new eval row. The eval row enters the gate. The gate prevents recurrence</a:t>
            </a:r>
          </a:p>
          <a:p>
            <a:r>
              <a:t>- Latency spike -&gt; Azure Monitor alert -&gt; on-call</a:t>
            </a:r>
          </a:p>
          <a:p>
            <a:r>
              <a:t>- Tool error rate -&gt; disable tool, fall back to manual</a:t>
            </a:r>
          </a:p>
          <a:p>
            <a:r>
              <a:t>- Safety violation -&gt; block plus content safety incident</a:t>
            </a:r>
          </a:p>
          <a:p>
            <a:r>
              <a:t>- Eval score drop -&gt; pause canary, open ticket</a:t>
            </a:r>
          </a:p>
          <a:p>
            <a:r>
              <a:t>- Cost anomaly -&gt; throttle via APIM, notify FinOps</a:t>
            </a:r>
          </a:p>
          <a:p>
            <a:r>
              <a:t>- Positive feedback -&gt; sample into eval dataset</a:t>
            </a:r>
          </a:p>
          <a:p>
            <a:r>
              <a:t>- This is how Observe feeds Own, and how Own feeds the next Evaluate and Ship cycle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observability in action: trace waterfall, correlated spans, continuous evaluation scores, and signal-to-action flow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Own pillar. Shipping is not the finish line, it is where the real operational work begins. Day-2 has four concerns teams need to own</a:t>
            </a:r>
          </a:p>
          <a:p>
            <a:r>
              <a:t>- Reliability and SLOs: availability, latency, error rate budgets; tool dependency failure modes; graceful degradation</a:t>
            </a:r>
          </a:p>
          <a:p>
            <a:r>
              <a:t>- Incident response: runbooks per severity; on-call rotation that knows the agent; postmortems with model plus prompt context</a:t>
            </a:r>
          </a:p>
          <a:p>
            <a:r>
              <a:t>- Model lifecycle: canary rollout for upgrades; prompt and tool versioned alongside model; rollback drills</a:t>
            </a:r>
          </a:p>
          <a:p>
            <a:r>
              <a:t>- Cost and capacity: PTU vs pay-as-you-go; token and tool call budgets per tenant; alerting on cost anomalies</a:t>
            </a:r>
          </a:p>
          <a:p>
            <a:r>
              <a:t>- The four concerns are interlocking - each creates signals that feed back into evaluation and the next release</a:t>
            </a:r>
          </a:p>
          <a:p>
            <a:r>
              <a:t>- Governance umbrella: Microsoft Agent 365 (GA May 2026) provides the observe, govern, and secure control plane across all agents in the enterprise. The SDK is free and framework-agnostic - works with Microsoft Agent Framework, OpenAI Agents SDK, LangChain, Semantic Kernel. Brings custom and third-party agents under one governance umbrella so Day-2 visibility and policy enforcement are consistent</a:t>
            </a:r>
          </a:p>
          <a:p>
            <a:r>
              <a:t>- The next two slides go deeper into incident response and model lifecycle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something goes wrong in production, you need a structured response - not a fire drill. The runbook turns chaos into a sequence</a:t>
            </a:r>
          </a:p>
          <a:p>
            <a:r>
              <a:t>- The severity table sets expectations so teams do not over-react or under-react</a:t>
            </a:r>
          </a:p>
          <a:p>
            <a:r>
              <a:t>- The triage flow makes containment explicit - stop the bleed before debugging</a:t>
            </a:r>
          </a:p>
          <a:p>
            <a:r>
              <a:t>- The runbook is part of Own because it turns production signals into containment, evidence-backed fixes, and future evaluation coverage</a:t>
            </a:r>
          </a:p>
          <a:p>
            <a:r>
              <a:t>- Every closed incident produces evidence that updates the eval dataset, the gate criteria, or the operating model</a:t>
            </a:r>
          </a:p>
          <a:p>
            <a:r>
              <a:t>- The other recurring Day-2 challenge is model lifecycle - let us look at that next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When the model itself changes - deprecation, new versions, cost pressure - that is model lifecycle. The recurring pain point: "the model we depend on is being deprecated, what now?"</a:t>
            </a:r>
          </a:p>
          <a:p>
            <a:r>
              <a:t>- The answer: same gates and evidence as any other release candidate</a:t>
            </a:r>
          </a:p>
          <a:p>
            <a:r>
              <a:t>- Triggers: deprecation, new model availability, cost or performance pressure, vendor change</a:t>
            </a:r>
          </a:p>
          <a:p>
            <a:r>
              <a:t>- Canary process: pin current model as baseline; run new model against eval dataset offline; promote to canary traffic slice; compare live quality, cost, latency, safety; roll forward or roll back with evidence</a:t>
            </a:r>
          </a:p>
          <a:p>
            <a:r>
              <a:t>- Ownership: AI platform team coordinates, application team validates</a:t>
            </a:r>
          </a:p>
          <a:p>
            <a:r>
              <a:t>- Model lifecycle is part of Own because every model, prompt, or tool change becomes a new release candidate that must go back through Evaluate and Ship</a:t>
            </a:r>
          </a:p>
          <a:p>
            <a:r>
              <a:t>- Canary upgrades map cleanly to model changes if the eval dataset and release contract are already in place</a:t>
            </a:r>
          </a:p>
          <a:p>
            <a:r>
              <a:t>- We have covered the full loop - now the question is: where do you start?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Live demo showing Day-2 operations: incident triage from trace, model canary comparison, and production learnings feeding back into the eval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 do not need to boil the ocean. Start with one production-candidate agent and apply the four pillars end to end</a:t>
            </a:r>
          </a:p>
          <a:p>
            <a:r>
              <a:t>- Revisit the maturity model from earlier - identify where your team sits today (most are Initial or Defined) and set a concrete goal to reach the next level within 90 days</a:t>
            </a:r>
          </a:p>
          <a:p>
            <a:r>
              <a:t>- Once the pattern is proven on one agent, it scales across the portfolio without re-litigating every decision</a:t>
            </a:r>
          </a:p>
          <a:p>
            <a:r>
              <a:t>- The maturity model is not aspirational - it is a concrete checklist of what changes between levels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Thank you for your time today</a:t>
            </a:r>
          </a:p>
          <a:p>
            <a:r>
              <a:t>- We have ten minutes for questions</a:t>
            </a:r>
          </a:p>
          <a:p>
            <a:r>
              <a:t>- Happy to go deeper on any of the pillars - evaluation datasets, CI/CD gate design, observability correlation, or Day-2 operations</a:t>
            </a:r>
          </a:p>
          <a:p>
            <a:r>
              <a:t>- If you want to continue the conversation, reach out to your account team or find us after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Reference links for deeper exploration of each pillar</a:t>
            </a:r>
          </a:p>
          <a:p>
            <a:r>
              <a:t>- All links point to Microsoft Learn documentation for Azure AI Foundry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078D4"/>
                </a:solidFill>
                <a:latin typeface="Segoe UI Semibold"/>
              </a:rPr>
              <a:t>AgentOps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Agent Prototype to Production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Agenda</a:t>
            </a:r>
          </a:p>
        </p:txBody>
      </p:sp>
      <p:sp>
        <p:nvSpPr>
          <p:cNvPr id="3" name="TextBox 2"/>
          <p:cNvSpPr txBox="1"/>
          <p:nvPr/>
        </p:nvSpPr>
        <p:spPr>
          <a:xfrm>
            <a:off x="584200" y="12000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AgentOps Foundations</a:t>
            </a:r>
            <a:r>
              <a:rPr sz="1600" b="0">
                <a:solidFill>
                  <a:srgbClr val="091F2C"/>
                </a:solidFill>
                <a:latin typeface="Segoe UI"/>
              </a:rPr>
              <a:t> - why AI ops is different and the four-pillar model</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 quality, grounding, behavior, and red teaming</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 gates, evidence, approvals, and environment promotion</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 traces, correlation, telemetry, and feedback</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 incident response, model lifecycle, cost, and capacity</a:t>
            </a:r>
          </a:p>
          <a:p>
            <a:pPr>
              <a:spcAft>
                <a:spcPts val="400"/>
              </a:spcAft>
            </a:pPr>
            <a:r>
              <a:rPr sz="1600">
                <a:solidFill>
                  <a:srgbClr val="091F2C"/>
                </a:solidFill>
                <a:latin typeface="Segoe UI"/>
              </a:rPr>
              <a:t>• </a:t>
            </a:r>
            <a:r>
              <a:rPr sz="1600" b="1">
                <a:solidFill>
                  <a:srgbClr val="091F2C"/>
                </a:solidFill>
                <a:latin typeface="Segoe UI"/>
              </a:rPr>
              <a:t>Your Next Steps</a:t>
            </a:r>
            <a:r>
              <a:rPr sz="1600" b="0">
                <a:solidFill>
                  <a:srgbClr val="091F2C"/>
                </a:solidFill>
                <a:latin typeface="Segoe UI"/>
              </a:rPr>
              <a:t> - from where you are today to the next level of maturity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AgentOps Foundations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Why AI operations need a new discipline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The production gap</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bottleneck moved from building the first demo to proving that the next version is safe to release</a:t>
            </a:r>
          </a:p>
        </p:txBody>
      </p:sp>
      <p:pic>
        <p:nvPicPr>
          <p:cNvPr id="4" name="Two-column contrast: prototype works vs production needs proof, with arrows showing the shift from manual to evidence-based" descr="Two-column contrast: prototype works vs production needs proof, with arrows showing the shift from manual to evidence-ba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Building blocks of a production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Each tier adds components and complexity - a production agent manages all these simultaneously</a:t>
            </a:r>
          </a:p>
        </p:txBody>
      </p:sp>
      <p:pic>
        <p:nvPicPr>
          <p:cNvPr id="4" name="Progressive table showing how components and operational surface accumulate upwards from prompts (bottom) through multi-agent systems (top)" descr="Progressive table showing how components and operational surface accumulate upwards from prompts (bottom) through multi-agent systems (top)"/>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Microsoft Foundry is the control plane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Foundry stays the control plane - AgentOps connects Foundry signals to release decisions and Day-2 action</a:t>
            </a:r>
          </a:p>
        </p:txBody>
      </p:sp>
      <p:pic>
        <p:nvPicPr>
          <p:cNvPr id="4" name="Foundry control plane stack with Surfaces, Capabilities, and Runtime layers" descr="Foundry control plane stack with Surfaces, Capabilities, and Runtime layer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Production readiness checklist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checklist turns "I think it works" into "we have evidence for this release"</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0">
                <a:solidFill>
                  <a:srgbClr val="091F2C"/>
                </a:solidFill>
                <a:latin typeface="Segoe UI"/>
              </a:rPr>
              <a:t>Target and version are explicit</a:t>
            </a:r>
          </a:p>
          <a:p>
            <a:pPr>
              <a:spcAft>
                <a:spcPts val="400"/>
              </a:spcAft>
            </a:pPr>
            <a:r>
              <a:rPr sz="1600">
                <a:solidFill>
                  <a:srgbClr val="091F2C"/>
                </a:solidFill>
                <a:latin typeface="Segoe UI"/>
              </a:rPr>
              <a:t>• </a:t>
            </a:r>
            <a:r>
              <a:rPr sz="1600" b="0">
                <a:solidFill>
                  <a:srgbClr val="091F2C"/>
                </a:solidFill>
                <a:latin typeface="Segoe UI"/>
              </a:rPr>
              <a:t>Eval dataset and thresholds exist</a:t>
            </a:r>
          </a:p>
          <a:p>
            <a:pPr>
              <a:spcAft>
                <a:spcPts val="400"/>
              </a:spcAft>
            </a:pPr>
            <a:r>
              <a:rPr sz="1600">
                <a:solidFill>
                  <a:srgbClr val="091F2C"/>
                </a:solidFill>
                <a:latin typeface="Segoe UI"/>
              </a:rPr>
              <a:t>• </a:t>
            </a:r>
            <a:r>
              <a:rPr sz="1600" b="0">
                <a:solidFill>
                  <a:srgbClr val="091F2C"/>
                </a:solidFill>
                <a:latin typeface="Segoe UI"/>
              </a:rPr>
              <a:t>CI/CD gate blocks regressions</a:t>
            </a:r>
          </a:p>
          <a:p>
            <a:pPr>
              <a:spcAft>
                <a:spcPts val="400"/>
              </a:spcAft>
            </a:pPr>
            <a:r>
              <a:rPr sz="1600">
                <a:solidFill>
                  <a:srgbClr val="091F2C"/>
                </a:solidFill>
                <a:latin typeface="Segoe UI"/>
              </a:rPr>
              <a:t>• </a:t>
            </a:r>
            <a:r>
              <a:rPr sz="1600" b="0">
                <a:solidFill>
                  <a:srgbClr val="091F2C"/>
                </a:solidFill>
                <a:latin typeface="Segoe UI"/>
              </a:rPr>
              <a:t>Telemetry and traces are wired</a:t>
            </a:r>
          </a:p>
          <a:p>
            <a:pPr>
              <a:spcAft>
                <a:spcPts val="400"/>
              </a:spcAft>
            </a:pPr>
            <a:r>
              <a:rPr sz="1600">
                <a:solidFill>
                  <a:srgbClr val="091F2C"/>
                </a:solidFill>
                <a:latin typeface="Segoe UI"/>
              </a:rPr>
              <a:t>• </a:t>
            </a:r>
            <a:r>
              <a:rPr sz="1600" b="0">
                <a:solidFill>
                  <a:srgbClr val="091F2C"/>
                </a:solidFill>
                <a:latin typeface="Segoe UI"/>
              </a:rPr>
              <a:t>Safety and red-team findings are tracked</a:t>
            </a:r>
          </a:p>
          <a:p>
            <a:pPr>
              <a:spcAft>
                <a:spcPts val="400"/>
              </a:spcAft>
            </a:pPr>
            <a:r>
              <a:rPr sz="1600">
                <a:solidFill>
                  <a:srgbClr val="091F2C"/>
                </a:solidFill>
                <a:latin typeface="Segoe UI"/>
              </a:rPr>
              <a:t>• </a:t>
            </a:r>
            <a:r>
              <a:rPr sz="1600" b="0">
                <a:solidFill>
                  <a:srgbClr val="091F2C"/>
                </a:solidFill>
                <a:latin typeface="Segoe UI"/>
              </a:rPr>
              <a:t>Release evidence is reviewable</a:t>
            </a:r>
          </a:p>
          <a:p>
            <a:pPr>
              <a:spcAft>
                <a:spcPts val="400"/>
              </a:spcAft>
            </a:pPr>
            <a:r>
              <a:rPr sz="1600">
                <a:solidFill>
                  <a:srgbClr val="091F2C"/>
                </a:solidFill>
                <a:latin typeface="Segoe UI"/>
              </a:rPr>
              <a:t>• </a:t>
            </a:r>
            <a:r>
              <a:rPr sz="1600" b="0">
                <a:solidFill>
                  <a:srgbClr val="091F2C"/>
                </a:solidFill>
                <a:latin typeface="Segoe UI"/>
              </a:rPr>
              <a:t>Owners know what to do when signals fail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operating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Four pillars - Evaluate, ship, observe, and own production agents</a:t>
            </a:r>
          </a:p>
        </p:txBody>
      </p:sp>
      <p:pic>
        <p:nvPicPr>
          <p:cNvPr id="4" name="Four AgentOps pillars: Evaluate, Ship, Observe, Own, with example practices under each pillar" descr="Four AgentOps pillars: Evaluate, Ship, Observe, Own, with example practices under each pillar"/>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Maturity model</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Most teams sit between Initial and Defined - start by moving one production-candidate agent up one level</a:t>
            </a:r>
          </a:p>
        </p:txBody>
      </p:sp>
      <p:pic>
        <p:nvPicPr>
          <p:cNvPr id="4" name="AgentOps maturity ribbon with four levels: Initial, Defined, Managed, Optimised" descr="AgentOps maturity ribbon with four levels: Initial, Defined, Managed, Optimised"/>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AgentOps Architecture</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 complete architecture for AgentOps inner and outer loop</a:t>
            </a:r>
          </a:p>
        </p:txBody>
      </p:sp>
      <p:pic>
        <p:nvPicPr>
          <p:cNvPr id="4" name="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descr="Inner loop (sandbox, source control, authoring tools, agent frameworks) plus outer loop (dev and qa Foundry projects with Prompt Agent / Hosted Agent / BYO compute runtime choice, Gated approval, prod), with Observability and Control as the Foundry Control Plane (Overview, Assets, Compliance, Quota) and Azure Monitor plus Application Insights as the telemetry backend"/>
          <p:cNvPicPr>
            <a:picLocks noChangeAspect="1"/>
          </p:cNvPicPr>
          <p:nvPr/>
        </p:nvPicPr>
        <p:blipFill>
          <a:blip r:embed="rId3"/>
          <a:stretch>
            <a:fillRect/>
          </a:stretch>
        </p:blipFill>
        <p:spPr>
          <a:xfrm>
            <a:off x="1166100" y="2103120"/>
            <a:ext cx="9859800" cy="455488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Evaluate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The release signal for agentic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Evaluation strategy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Evaluation is not a one-time score - it's the release signal that grows as production teaches you new failure modes</a:t>
            </a:r>
          </a:p>
        </p:txBody>
      </p:sp>
      <p:pic>
        <p:nvPicPr>
          <p:cNvPr id="4" name="Three-stage evaluation timeline: base model selection, pre-production evaluation, post-production monitoring" descr="Three-stage evaluation timeline: base model selection, pre-production evaluation, post-production monitoring"/>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Red teaming and AI safety</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Quality asks "is the answer good?" Red teaming asks "can someone make it misbehave?" Both are required</a:t>
            </a:r>
          </a:p>
        </p:txBody>
      </p:sp>
      <p:pic>
        <p:nvPicPr>
          <p:cNvPr id="4" name="Red teaming taxonomy: four risk categories (harmful content, jailbreak, hallucination, data exfiltration) plus the four-step probe process" descr="Red teaming taxonomy: four risk categories (harmful content, jailbreak, hallucination, data exfiltration) plus the four-step probe process"/>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Evaluate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Ship</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Gates that enforce release evidence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CI/CD gates for agentic AI</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strongest moment is a failed gate - if the prompt regresses, the pipeline stops before users experience it</a:t>
            </a:r>
          </a:p>
        </p:txBody>
      </p:sp>
      <p:pic>
        <p:nvPicPr>
          <p:cNvPr id="4" name="CI/CD pipeline with evaluation gates: build, evaluate, gate decision, deploy" descr="CI/CD pipeline with evaluation gates: build, evaluate, gate decision, deploy"/>
          <p:cNvPicPr>
            <a:picLocks noChangeAspect="1"/>
          </p:cNvPicPr>
          <p:nvPr/>
        </p:nvPicPr>
        <p:blipFill>
          <a:blip r:embed="rId3"/>
          <a:stretch>
            <a:fillRect/>
          </a:stretch>
        </p:blipFill>
        <p:spPr>
          <a:xfrm>
            <a:off x="609600" y="2103120"/>
            <a:ext cx="10972800" cy="440600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Ship</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Observe</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Traces, correlation, and the closed loop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Observability for agents is more than monitoring</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Infrastructure monitoring asks "is the service healthy?" Agent observability asks "what did it do and why?"</a:t>
            </a:r>
          </a:p>
        </p:txBody>
      </p:sp>
      <p:pic>
        <p:nvPicPr>
          <p:cNvPr id="4" name="Foundry observability stack with three pillars: tracing, monitoring, continuous evaluation" descr="Foundry observability stack with three pillars: tracing, monitoring, continuous evaluation"/>
          <p:cNvPicPr>
            <a:picLocks noChangeAspect="1"/>
          </p:cNvPicPr>
          <p:nvPr/>
        </p:nvPicPr>
        <p:blipFill>
          <a:blip r:embed="rId3"/>
          <a:stretch>
            <a:fillRect/>
          </a:stretch>
        </p:blipFill>
        <p:spPr>
          <a:xfrm>
            <a:off x="1716308" y="2103120"/>
            <a:ext cx="8759384" cy="45548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From telemetry to action</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The end state is not a dashboard. The end state is action: observe, diagnose, improve, and ship the next version with evidence</a:t>
            </a:r>
          </a:p>
        </p:txBody>
      </p:sp>
      <p:pic>
        <p:nvPicPr>
          <p:cNvPr id="4" name="Trace waterfall plus a signals-to-actions table showing how each telemetry signal triggers a concrete operational response" descr="Trace waterfall plus a signals-to-actions table showing how each telemetry signal triggers a concrete operational response"/>
          <p:cNvPicPr>
            <a:picLocks noChangeAspect="1"/>
          </p:cNvPicPr>
          <p:nvPr/>
        </p:nvPicPr>
        <p:blipFill>
          <a:blip r:embed="rId3"/>
          <a:stretch>
            <a:fillRect/>
          </a:stretch>
        </p:blipFill>
        <p:spPr>
          <a:xfrm>
            <a:off x="1153085" y="2103120"/>
            <a:ext cx="9885830" cy="45548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Observe</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Own</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Running agents in production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Day-2 operations - four concerns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AgentOps is not done at release - production traces and red-team findings feed the next evaluation set</a:t>
            </a:r>
          </a:p>
        </p:txBody>
      </p:sp>
      <p:pic>
        <p:nvPicPr>
          <p:cNvPr id="4" name="Day-2 quadrant: Reliability + SLOs, Incident response, Model lifecycle, Cost + capacity" descr="Day-2 quadrant: Reliability + SLOs, Incident response, Model lifecycle, Cost + capacit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AI incident runbook</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Containment first - evidence-backed fix second</a:t>
            </a:r>
          </a:p>
        </p:txBody>
      </p:sp>
      <p:graphicFrame>
        <p:nvGraphicFramePr>
          <p:cNvPr id="4" name="Table 3"/>
          <p:cNvGraphicFramePr>
            <a:graphicFrameLocks noGrp="1"/>
          </p:cNvGraphicFramePr>
          <p:nvPr/>
        </p:nvGraphicFramePr>
        <p:xfrm>
          <a:off x="584200" y="2095500"/>
          <a:ext cx="11018838" cy="1850000"/>
        </p:xfrm>
        <a:graphic>
          <a:graphicData uri="http://schemas.openxmlformats.org/drawingml/2006/table">
            <a:tbl>
              <a:tblPr firstRow="0" bandRow="0" bandCol="0" lastRow="0" firstCol="0" lastCol="0">
                <a:tableStyleId>{5C22544A-7EE6-4342-B048-85BDC9FD1C3A}</a:tableStyleId>
                <a:tblStyleId>{5940675A-B579-460E-94D1-54222C63F5DA}</a:tblStyleId>
              </a:tblPr>
              <a:tblGrid>
                <a:gridCol w="3672946"/>
                <a:gridCol w="3672946"/>
                <a:gridCol w="3672946"/>
              </a:tblGrid>
              <a:tr h="370000">
                <a:tc>
                  <a:txBody>
                    <a:bodyPr/>
                    <a:lstStyle/>
                    <a:p>
                      <a:r>
                        <a:rPr sz="1200" b="1">
                          <a:solidFill>
                            <a:srgbClr val="FFFFFF"/>
                          </a:solidFill>
                          <a:latin typeface="Segoe UI"/>
                        </a:rPr>
                        <a:t>Severity</a:t>
                      </a:r>
                    </a:p>
                  </a:txBody>
                  <a:tcPr>
                    <a:solidFill>
                      <a:srgbClr val="0078D4"/>
                    </a:solidFill>
                  </a:tcPr>
                </a:tc>
                <a:tc>
                  <a:txBody>
                    <a:bodyPr/>
                    <a:lstStyle/>
                    <a:p>
                      <a:r>
                        <a:rPr sz="1200" b="1">
                          <a:solidFill>
                            <a:srgbClr val="FFFFFF"/>
                          </a:solidFill>
                          <a:latin typeface="Segoe UI"/>
                        </a:rPr>
                        <a:t>Example</a:t>
                      </a:r>
                    </a:p>
                  </a:txBody>
                  <a:tcPr>
                    <a:solidFill>
                      <a:srgbClr val="0078D4"/>
                    </a:solidFill>
                  </a:tcPr>
                </a:tc>
                <a:tc>
                  <a:txBody>
                    <a:bodyPr/>
                    <a:lstStyle/>
                    <a:p>
                      <a:r>
                        <a:rPr sz="1200" b="1">
                          <a:solidFill>
                            <a:srgbClr val="FFFFFF"/>
                          </a:solidFill>
                          <a:latin typeface="Segoe UI"/>
                        </a:rPr>
                        <a:t>First action</a:t>
                      </a:r>
                    </a:p>
                  </a:txBody>
                  <a:tcPr>
                    <a:solidFill>
                      <a:srgbClr val="0078D4"/>
                    </a:solidFill>
                  </a:tcPr>
                </a:tc>
              </a:tr>
              <a:tr h="370000">
                <a:tc>
                  <a:txBody>
                    <a:bodyPr/>
                    <a:lstStyle/>
                    <a:p>
                      <a:r>
                        <a:rPr sz="1200" b="0">
                          <a:solidFill>
                            <a:srgbClr val="091F2C"/>
                          </a:solidFill>
                          <a:latin typeface="Segoe UI"/>
                        </a:rPr>
                        <a:t>S1 Critical</a:t>
                      </a:r>
                    </a:p>
                  </a:txBody>
                  <a:tcPr>
                    <a:solidFill>
                      <a:srgbClr val="FFFFFF"/>
                    </a:solidFill>
                  </a:tcPr>
                </a:tc>
                <a:tc>
                  <a:txBody>
                    <a:bodyPr/>
                    <a:lstStyle/>
                    <a:p>
                      <a:r>
                        <a:rPr sz="1200" b="0">
                          <a:solidFill>
                            <a:srgbClr val="091F2C"/>
                          </a:solidFill>
                          <a:latin typeface="Segoe UI"/>
                        </a:rPr>
                        <a:t>Safety event or data leak in production</a:t>
                      </a:r>
                    </a:p>
                  </a:txBody>
                  <a:tcPr>
                    <a:solidFill>
                      <a:srgbClr val="FFFFFF"/>
                    </a:solidFill>
                  </a:tcPr>
                </a:tc>
                <a:tc>
                  <a:txBody>
                    <a:bodyPr/>
                    <a:lstStyle/>
                    <a:p>
                      <a:r>
                        <a:rPr sz="1200" b="0">
                          <a:solidFill>
                            <a:srgbClr val="091F2C"/>
                          </a:solidFill>
                          <a:latin typeface="Segoe UI"/>
                        </a:rPr>
                        <a:t>Stop gate, rollback to last good version</a:t>
                      </a:r>
                    </a:p>
                  </a:txBody>
                  <a:tcPr>
                    <a:solidFill>
                      <a:srgbClr val="FFFFFF"/>
                    </a:solidFill>
                  </a:tcPr>
                </a:tc>
              </a:tr>
              <a:tr h="370000">
                <a:tc>
                  <a:txBody>
                    <a:bodyPr/>
                    <a:lstStyle/>
                    <a:p>
                      <a:r>
                        <a:rPr sz="1200" b="0">
                          <a:solidFill>
                            <a:srgbClr val="091F2C"/>
                          </a:solidFill>
                          <a:latin typeface="Segoe UI"/>
                        </a:rPr>
                        <a:t>S2 High</a:t>
                      </a:r>
                    </a:p>
                  </a:txBody>
                  <a:tcPr>
                    <a:solidFill>
                      <a:srgbClr val="FFFFFF"/>
                    </a:solidFill>
                  </a:tcPr>
                </a:tc>
                <a:tc>
                  <a:txBody>
                    <a:bodyPr/>
                    <a:lstStyle/>
                    <a:p>
                      <a:r>
                        <a:rPr sz="1200" b="0">
                          <a:solidFill>
                            <a:srgbClr val="091F2C"/>
                          </a:solidFill>
                          <a:latin typeface="Segoe UI"/>
                        </a:rPr>
                        <a:t>Quality or grounding regression after deploy</a:t>
                      </a:r>
                    </a:p>
                  </a:txBody>
                  <a:tcPr>
                    <a:solidFill>
                      <a:srgbClr val="FFFFFF"/>
                    </a:solidFill>
                  </a:tcPr>
                </a:tc>
                <a:tc>
                  <a:txBody>
                    <a:bodyPr/>
                    <a:lstStyle/>
                    <a:p>
                      <a:r>
                        <a:rPr sz="1200" b="0">
                          <a:solidFill>
                            <a:srgbClr val="091F2C"/>
                          </a:solidFill>
                          <a:latin typeface="Segoe UI"/>
                        </a:rPr>
                        <a:t>Planned rollback or version pin</a:t>
                      </a:r>
                    </a:p>
                  </a:txBody>
                  <a:tcPr>
                    <a:solidFill>
                      <a:srgbClr val="FFFFFF"/>
                    </a:solidFill>
                  </a:tcPr>
                </a:tc>
              </a:tr>
              <a:tr h="370000">
                <a:tc>
                  <a:txBody>
                    <a:bodyPr/>
                    <a:lstStyle/>
                    <a:p>
                      <a:r>
                        <a:rPr sz="1200" b="0">
                          <a:solidFill>
                            <a:srgbClr val="091F2C"/>
                          </a:solidFill>
                          <a:latin typeface="Segoe UI"/>
                        </a:rPr>
                        <a:t>S3 Medium</a:t>
                      </a:r>
                    </a:p>
                  </a:txBody>
                  <a:tcPr>
                    <a:solidFill>
                      <a:srgbClr val="FFFFFF"/>
                    </a:solidFill>
                  </a:tcPr>
                </a:tc>
                <a:tc>
                  <a:txBody>
                    <a:bodyPr/>
                    <a:lstStyle/>
                    <a:p>
                      <a:r>
                        <a:rPr sz="1200" b="0">
                          <a:solidFill>
                            <a:srgbClr val="091F2C"/>
                          </a:solidFill>
                          <a:latin typeface="Segoe UI"/>
                        </a:rPr>
                        <a:t>Latency degradation or cost spike</a:t>
                      </a:r>
                    </a:p>
                  </a:txBody>
                  <a:tcPr>
                    <a:solidFill>
                      <a:srgbClr val="FFFFFF"/>
                    </a:solidFill>
                  </a:tcPr>
                </a:tc>
                <a:tc>
                  <a:txBody>
                    <a:bodyPr/>
                    <a:lstStyle/>
                    <a:p>
                      <a:r>
                        <a:rPr sz="1200" b="0">
                          <a:solidFill>
                            <a:srgbClr val="091F2C"/>
                          </a:solidFill>
                          <a:latin typeface="Segoe UI"/>
                        </a:rPr>
                        <a:t>Rate-limit, investigate, then act</a:t>
                      </a:r>
                    </a:p>
                  </a:txBody>
                  <a:tcPr>
                    <a:solidFill>
                      <a:srgbClr val="FFFFFF"/>
                    </a:solidFill>
                  </a:tcPr>
                </a:tc>
              </a:tr>
              <a:tr h="370000">
                <a:tc>
                  <a:txBody>
                    <a:bodyPr/>
                    <a:lstStyle/>
                    <a:p>
                      <a:r>
                        <a:rPr sz="1200" b="0">
                          <a:solidFill>
                            <a:srgbClr val="091F2C"/>
                          </a:solidFill>
                          <a:latin typeface="Segoe UI"/>
                        </a:rPr>
                        <a:t>S4 Low</a:t>
                      </a:r>
                    </a:p>
                  </a:txBody>
                  <a:tcPr>
                    <a:solidFill>
                      <a:srgbClr val="FFFFFF"/>
                    </a:solidFill>
                  </a:tcPr>
                </a:tc>
                <a:tc>
                  <a:txBody>
                    <a:bodyPr/>
                    <a:lstStyle/>
                    <a:p>
                      <a:r>
                        <a:rPr sz="1200" b="0">
                          <a:solidFill>
                            <a:srgbClr val="091F2C"/>
                          </a:solidFill>
                          <a:latin typeface="Segoe UI"/>
                        </a:rPr>
                        <a:t>Drift indicator on a single metric</a:t>
                      </a:r>
                    </a:p>
                  </a:txBody>
                  <a:tcPr>
                    <a:solidFill>
                      <a:srgbClr val="FFFFFF"/>
                    </a:solidFill>
                  </a:tcPr>
                </a:tc>
                <a:tc>
                  <a:txBody>
                    <a:bodyPr/>
                    <a:lstStyle/>
                    <a:p>
                      <a:r>
                        <a:rPr sz="1200" b="0">
                          <a:solidFill>
                            <a:srgbClr val="091F2C"/>
                          </a:solidFill>
                          <a:latin typeface="Segoe UI"/>
                        </a:rPr>
                        <a:t>Schedule analysis in the next eval cycle</a:t>
                      </a:r>
                    </a:p>
                  </a:txBody>
                  <a:tcPr>
                    <a:solidFill>
                      <a:srgbClr val="FFFFFF"/>
                    </a:solidFill>
                  </a:tcPr>
                </a:tc>
              </a:tr>
            </a:tbl>
          </a:graphicData>
        </a:graphic>
      </p:graphicFrame>
      <p:sp>
        <p:nvSpPr>
          <p:cNvPr id="5" name="TextBox 4"/>
          <p:cNvSpPr txBox="1"/>
          <p:nvPr/>
        </p:nvSpPr>
        <p:spPr>
          <a:xfrm>
            <a:off x="584200" y="4045500"/>
            <a:ext cx="11018838" cy="800000"/>
          </a:xfrm>
          <a:prstGeom prst="rect">
            <a:avLst/>
          </a:prstGeom>
          <a:noFill/>
        </p:spPr>
        <p:txBody>
          <a:bodyPr wrap="square">
            <a:spAutoFit/>
          </a:bodyPr>
          <a:lstStyle/>
          <a:p>
            <a:pPr>
              <a:spcAft>
                <a:spcPts val="400"/>
              </a:spcAft>
            </a:pPr>
            <a:r>
              <a:rPr sz="1600" b="0">
                <a:solidFill>
                  <a:srgbClr val="091F2C"/>
                </a:solidFill>
                <a:latin typeface="Segoe UI"/>
              </a:rPr>
              <a:t>Triage flow:</a:t>
            </a:r>
          </a:p>
          <a:p>
            <a:pPr>
              <a:spcAft>
                <a:spcPts val="400"/>
              </a:spcAft>
            </a:pPr>
            <a:r>
              <a:rPr sz="1600" b="1">
                <a:solidFill>
                  <a:srgbClr val="091F2C"/>
                </a:solidFill>
                <a:latin typeface="Segoe UI"/>
              </a:rPr>
              <a:t>Detect -&gt; Correlate trace -&gt; Identify version -&gt; Contain -&gt; Analyze -&gt; Fix -&gt; Re-evaluate -&gt; Close with evidence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Model lifecycle and canary upgrades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Treat every model change as a release candidate, not a config flip</a:t>
            </a:r>
          </a:p>
        </p:txBody>
      </p:sp>
      <p:pic>
        <p:nvPicPr>
          <p:cNvPr id="4" name="Model lifecycle and canary upgrade process through an API gateway" descr="Model lifecycle and canary upgrade process through an API gateway"/>
          <p:cNvPicPr>
            <a:picLocks noChangeAspect="1"/>
          </p:cNvPicPr>
          <p:nvPr/>
        </p:nvPicPr>
        <p:blipFill>
          <a:blip r:embed="rId3"/>
          <a:stretch>
            <a:fillRect/>
          </a:stretch>
        </p:blipFill>
        <p:spPr>
          <a:xfrm>
            <a:off x="1399687" y="2103120"/>
            <a:ext cx="9392626" cy="45548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1500000"/>
            <a:ext cx="11018838" cy="800000"/>
          </a:xfrm>
          <a:prstGeom prst="rect">
            <a:avLst/>
          </a:prstGeom>
          <a:noFill/>
        </p:spPr>
        <p:txBody>
          <a:bodyPr wrap="square">
            <a:spAutoFit/>
          </a:bodyPr>
          <a:lstStyle/>
          <a:p>
            <a:pPr algn="ctr"/>
            <a:r>
              <a:rPr sz="4800" b="0">
                <a:solidFill>
                  <a:srgbClr val="555555"/>
                </a:solidFill>
                <a:latin typeface="Segoe UI Semibold"/>
              </a:rPr>
              <a:t>DEMO</a:t>
            </a:r>
          </a:p>
        </p:txBody>
      </p:sp>
      <p:sp>
        <p:nvSpPr>
          <p:cNvPr id="3" name="TextBox 2"/>
          <p:cNvSpPr txBox="1"/>
          <p:nvPr/>
        </p:nvSpPr>
        <p:spPr>
          <a:xfrm>
            <a:off x="584200" y="2600000"/>
            <a:ext cx="11018838" cy="900000"/>
          </a:xfrm>
          <a:prstGeom prst="rect">
            <a:avLst/>
          </a:prstGeom>
          <a:noFill/>
        </p:spPr>
        <p:txBody>
          <a:bodyPr wrap="square">
            <a:spAutoFit/>
          </a:bodyPr>
          <a:lstStyle/>
          <a:p>
            <a:pPr algn="ctr"/>
            <a:r>
              <a:rPr sz="5400" b="0">
                <a:solidFill>
                  <a:srgbClr val="091F2C"/>
                </a:solidFill>
                <a:latin typeface="Segoe UI Semibold"/>
              </a:rPr>
              <a:t>Own</a:t>
            </a:r>
          </a:p>
        </p:txBody>
      </p:sp>
      <p:sp>
        <p:nvSpPr>
          <p:cNvPr id="4" name="TextBox 3"/>
          <p:cNvSpPr txBox="1"/>
          <p:nvPr/>
        </p:nvSpPr>
        <p:spPr>
          <a:xfrm>
            <a:off x="584200" y="5958000"/>
            <a:ext cx="11018838" cy="500000"/>
          </a:xfrm>
          <a:prstGeom prst="rect">
            <a:avLst/>
          </a:prstGeom>
          <a:noFill/>
        </p:spPr>
        <p:txBody>
          <a:bodyPr wrap="square">
            <a:spAutoFit/>
          </a:bodyPr>
          <a:lstStyle/>
          <a:p>
            <a:pPr algn="ctr"/>
            <a:r>
              <a:rPr sz="1800" b="0">
                <a:solidFill>
                  <a:srgbClr val="555555"/>
                </a:solidFill>
                <a:latin typeface="Segoe UI"/>
              </a:rPr>
              <a:t>Paulo Lacerda, Senior Cloud Solution Architect, Microsoft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Your Next Steps</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From where you are today to the next level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Start with one production-candidate agent</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Your 30-day goal - move one agent from "it works in testing", to "we can operate it safely"</a:t>
            </a:r>
          </a:p>
        </p:txBody>
      </p:sp>
      <p:sp>
        <p:nvSpPr>
          <p:cNvPr id="4" name="TextBox 3"/>
          <p:cNvSpPr txBox="1"/>
          <p:nvPr/>
        </p:nvSpPr>
        <p:spPr>
          <a:xfrm>
            <a:off x="584200" y="2095500"/>
            <a:ext cx="11018838" cy="4833938"/>
          </a:xfrm>
          <a:prstGeom prst="rect">
            <a:avLst/>
          </a:prstGeom>
          <a:noFill/>
        </p:spPr>
        <p:txBody>
          <a:bodyPr wrap="square">
            <a:spAutoFit/>
          </a:bodyPr>
          <a:lstStyle/>
          <a:p>
            <a:pPr>
              <a:spcAft>
                <a:spcPts val="400"/>
              </a:spcAft>
            </a:pPr>
            <a:r>
              <a:rPr sz="1600">
                <a:solidFill>
                  <a:srgbClr val="091F2C"/>
                </a:solidFill>
                <a:latin typeface="Segoe UI"/>
              </a:rPr>
              <a:t>• </a:t>
            </a:r>
            <a:r>
              <a:rPr sz="1600" b="1">
                <a:solidFill>
                  <a:srgbClr val="091F2C"/>
                </a:solidFill>
                <a:latin typeface="Segoe UI"/>
              </a:rPr>
              <a:t>Pick one agent</a:t>
            </a:r>
            <a:r>
              <a:rPr sz="1600" b="0">
                <a:solidFill>
                  <a:srgbClr val="091F2C"/>
                </a:solidFill>
                <a:latin typeface="Segoe UI"/>
              </a:rPr>
              <a:t> that is close to production</a:t>
            </a:r>
          </a:p>
          <a:p>
            <a:pPr>
              <a:spcAft>
                <a:spcPts val="400"/>
              </a:spcAft>
            </a:pPr>
            <a:r>
              <a:rPr sz="1600">
                <a:solidFill>
                  <a:srgbClr val="091F2C"/>
                </a:solidFill>
                <a:latin typeface="Segoe UI"/>
              </a:rPr>
              <a:t>• </a:t>
            </a:r>
            <a:r>
              <a:rPr sz="1600" b="1">
                <a:solidFill>
                  <a:srgbClr val="091F2C"/>
                </a:solidFill>
                <a:latin typeface="Segoe UI"/>
              </a:rPr>
              <a:t>Evaluate</a:t>
            </a:r>
            <a:r>
              <a:rPr sz="1600" b="0">
                <a:solidFill>
                  <a:srgbClr val="091F2C"/>
                </a:solidFill>
                <a:latin typeface="Segoe UI"/>
              </a:rPr>
              <a:t> it with release criteria and a small eval dataset</a:t>
            </a:r>
          </a:p>
          <a:p>
            <a:pPr>
              <a:spcAft>
                <a:spcPts val="400"/>
              </a:spcAft>
            </a:pPr>
            <a:r>
              <a:rPr sz="1600">
                <a:solidFill>
                  <a:srgbClr val="091F2C"/>
                </a:solidFill>
                <a:latin typeface="Segoe UI"/>
              </a:rPr>
              <a:t>• </a:t>
            </a:r>
            <a:r>
              <a:rPr sz="1600" b="1">
                <a:solidFill>
                  <a:srgbClr val="091F2C"/>
                </a:solidFill>
                <a:latin typeface="Segoe UI"/>
              </a:rPr>
              <a:t>Ship</a:t>
            </a:r>
            <a:r>
              <a:rPr sz="1600" b="0">
                <a:solidFill>
                  <a:srgbClr val="091F2C"/>
                </a:solidFill>
                <a:latin typeface="Segoe UI"/>
              </a:rPr>
              <a:t> it with PR gates, deploy gates, and readiness evidence</a:t>
            </a:r>
          </a:p>
          <a:p>
            <a:pPr>
              <a:spcAft>
                <a:spcPts val="400"/>
              </a:spcAft>
            </a:pPr>
            <a:r>
              <a:rPr sz="1600">
                <a:solidFill>
                  <a:srgbClr val="091F2C"/>
                </a:solidFill>
                <a:latin typeface="Segoe UI"/>
              </a:rPr>
              <a:t>• </a:t>
            </a:r>
            <a:r>
              <a:rPr sz="1600" b="1">
                <a:solidFill>
                  <a:srgbClr val="091F2C"/>
                </a:solidFill>
                <a:latin typeface="Segoe UI"/>
              </a:rPr>
              <a:t>Observe</a:t>
            </a:r>
            <a:r>
              <a:rPr sz="1600" b="0">
                <a:solidFill>
                  <a:srgbClr val="091F2C"/>
                </a:solidFill>
                <a:latin typeface="Segoe UI"/>
              </a:rPr>
              <a:t> it with telemetry, traces, dashboards, and alerts</a:t>
            </a:r>
          </a:p>
          <a:p>
            <a:pPr>
              <a:spcAft>
                <a:spcPts val="400"/>
              </a:spcAft>
            </a:pPr>
            <a:r>
              <a:rPr sz="1600">
                <a:solidFill>
                  <a:srgbClr val="091F2C"/>
                </a:solidFill>
                <a:latin typeface="Segoe UI"/>
              </a:rPr>
              <a:t>• </a:t>
            </a:r>
            <a:r>
              <a:rPr sz="1600" b="1">
                <a:solidFill>
                  <a:srgbClr val="091F2C"/>
                </a:solidFill>
                <a:latin typeface="Segoe UI"/>
              </a:rPr>
              <a:t>Own</a:t>
            </a:r>
            <a:r>
              <a:rPr sz="1600" b="0">
                <a:solidFill>
                  <a:srgbClr val="091F2C"/>
                </a:solidFill>
                <a:latin typeface="Segoe UI"/>
              </a:rPr>
              <a:t> it with weekly evidence reviews and production learnings</a:t>
            </a:r>
          </a:p>
          <a:p>
            <a:pPr>
              <a:spcAft>
                <a:spcPts val="400"/>
              </a:spcAft>
            </a:pPr>
            <a:r>
              <a:rPr sz="1600">
                <a:solidFill>
                  <a:srgbClr val="091F2C"/>
                </a:solidFill>
                <a:latin typeface="Segoe UI"/>
              </a:rPr>
              <a:t>• </a:t>
            </a:r>
            <a:r>
              <a:rPr sz="1600" b="1">
                <a:solidFill>
                  <a:srgbClr val="091F2C"/>
                </a:solidFill>
                <a:latin typeface="Segoe UI"/>
              </a:rPr>
              <a:t>Feed learnings</a:t>
            </a:r>
            <a:r>
              <a:rPr sz="1600" b="0">
                <a:solidFill>
                  <a:srgbClr val="091F2C"/>
                </a:solidFill>
                <a:latin typeface="Segoe UI"/>
              </a:rPr>
              <a:t> back into the next evaluation cycle</a:t>
            </a:r>
          </a:p>
          <a:p>
            <a:pPr>
              <a:spcAft>
                <a:spcPts val="400"/>
              </a:spcAft>
            </a:pPr>
            <a:r>
              <a:rPr sz="1600">
                <a:solidFill>
                  <a:srgbClr val="091F2C"/>
                </a:solidFill>
                <a:latin typeface="Segoe UI"/>
              </a:rPr>
              <a:t>• </a:t>
            </a:r>
            <a:r>
              <a:rPr sz="1600" b="1">
                <a:solidFill>
                  <a:srgbClr val="091F2C"/>
                </a:solidFill>
                <a:latin typeface="Segoe UI"/>
              </a:rPr>
              <a:t>Revisit the maturity model</a:t>
            </a:r>
            <a:r>
              <a:rPr sz="1600" b="0">
                <a:solidFill>
                  <a:srgbClr val="091F2C"/>
                </a:solidFill>
                <a:latin typeface="Segoe UI"/>
              </a:rPr>
              <a:t> - set your goal to reach the next level within 90 days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4200" y="3079000"/>
            <a:ext cx="11018838" cy="700000"/>
          </a:xfrm>
          <a:prstGeom prst="rect">
            <a:avLst/>
          </a:prstGeom>
          <a:noFill/>
        </p:spPr>
        <p:txBody>
          <a:bodyPr wrap="square">
            <a:spAutoFit/>
          </a:bodyPr>
          <a:lstStyle/>
          <a:p>
            <a:pPr algn="l"/>
            <a:r>
              <a:rPr sz="3600" b="0">
                <a:solidFill>
                  <a:srgbClr val="091F2C"/>
                </a:solidFill>
                <a:latin typeface="Segoe UI Semibold"/>
              </a:rPr>
              <a:t>Thank You</a:t>
            </a:r>
          </a:p>
        </p:txBody>
      </p:sp>
      <p:sp>
        <p:nvSpPr>
          <p:cNvPr id="3" name="TextBox 2"/>
          <p:cNvSpPr txBox="1"/>
          <p:nvPr/>
        </p:nvSpPr>
        <p:spPr>
          <a:xfrm>
            <a:off x="584200" y="4240850"/>
            <a:ext cx="11018838" cy="600000"/>
          </a:xfrm>
          <a:prstGeom prst="rect">
            <a:avLst/>
          </a:prstGeom>
          <a:noFill/>
        </p:spPr>
        <p:txBody>
          <a:bodyPr wrap="square">
            <a:spAutoFit/>
          </a:bodyPr>
          <a:lstStyle/>
          <a:p>
            <a:pPr algn="l"/>
            <a:r>
              <a:rPr sz="2200" b="0">
                <a:solidFill>
                  <a:srgbClr val="555555"/>
                </a:solidFill>
                <a:latin typeface="Segoe UI"/>
              </a:rPr>
              <a:t>Questions and Discussion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8263" y="457200"/>
            <a:ext cx="11018520" cy="553998"/>
          </a:xfrm>
          <a:prstGeom prst="rect">
            <a:avLst/>
          </a:prstGeom>
          <a:noFill/>
        </p:spPr>
        <p:txBody>
          <a:bodyPr wrap="square">
            <a:spAutoFit/>
          </a:bodyPr>
          <a:lstStyle/>
          <a:p>
            <a:r>
              <a:rPr sz="2800" b="0">
                <a:solidFill>
                  <a:srgbClr val="091F2C"/>
                </a:solidFill>
                <a:latin typeface="Segoe UI Semibold"/>
              </a:rPr>
              <a:t>Resources</a:t>
            </a:r>
          </a:p>
        </p:txBody>
      </p:sp>
      <p:sp>
        <p:nvSpPr>
          <p:cNvPr id="3" name="TextBox 2"/>
          <p:cNvSpPr txBox="1"/>
          <p:nvPr/>
        </p:nvSpPr>
        <p:spPr>
          <a:xfrm>
            <a:off x="584200" y="1200000"/>
            <a:ext cx="11018838" cy="350000"/>
          </a:xfrm>
          <a:prstGeom prst="rect">
            <a:avLst/>
          </a:prstGeom>
          <a:noFill/>
        </p:spPr>
        <p:txBody>
          <a:bodyPr wrap="square">
            <a:spAutoFit/>
          </a:bodyPr>
          <a:lstStyle/>
          <a:p>
            <a:r>
              <a:rPr sz="1800" b="0">
                <a:solidFill>
                  <a:srgbClr val="555555"/>
                </a:solidFill>
                <a:latin typeface="Segoe UI"/>
              </a:rPr>
              <a:t>Further reading</a:t>
            </a:r>
          </a:p>
        </p:txBody>
      </p:sp>
      <p:graphicFrame>
        <p:nvGraphicFramePr>
          <p:cNvPr id="4" name="Table 3"/>
          <p:cNvGraphicFramePr>
            <a:graphicFrameLocks noGrp="1"/>
          </p:cNvGraphicFramePr>
          <p:nvPr/>
        </p:nvGraphicFramePr>
        <p:xfrm>
          <a:off x="584200" y="2095500"/>
          <a:ext cx="11018838" cy="2960000"/>
        </p:xfrm>
        <a:graphic>
          <a:graphicData uri="http://schemas.openxmlformats.org/drawingml/2006/table">
            <a:tbl>
              <a:tblPr firstRow="0" bandRow="0" bandCol="0" lastRow="0" firstCol="0" lastCol="0">
                <a:tableStyleId>{5C22544A-7EE6-4342-B048-85BDC9FD1C3A}</a:tableStyleId>
                <a:tblStyleId>{5940675A-B579-460E-94D1-54222C63F5DA}</a:tblStyleId>
              </a:tblPr>
              <a:tblGrid>
                <a:gridCol w="5509419"/>
                <a:gridCol w="5509419"/>
              </a:tblGrid>
              <a:tr h="370000">
                <a:tc>
                  <a:txBody>
                    <a:bodyPr/>
                    <a:lstStyle/>
                    <a:p>
                      <a:r>
                        <a:rPr sz="1200" b="1">
                          <a:solidFill>
                            <a:srgbClr val="FFFFFF"/>
                          </a:solidFill>
                          <a:latin typeface="Segoe UI"/>
                        </a:rPr>
                        <a:t>Resource</a:t>
                      </a:r>
                    </a:p>
                  </a:txBody>
                  <a:tcPr>
                    <a:solidFill>
                      <a:srgbClr val="0078D4"/>
                    </a:solidFill>
                  </a:tcPr>
                </a:tc>
                <a:tc>
                  <a:txBody>
                    <a:bodyPr/>
                    <a:lstStyle/>
                    <a:p>
                      <a:r>
                        <a:rPr sz="1200" b="1">
                          <a:solidFill>
                            <a:srgbClr val="FFFFFF"/>
                          </a:solidFill>
                          <a:latin typeface="Segoe UI"/>
                        </a:rPr>
                        <a:t>URL</a:t>
                      </a:r>
                    </a:p>
                  </a:txBody>
                  <a:tcPr>
                    <a:solidFill>
                      <a:srgbClr val="0078D4"/>
                    </a:solidFill>
                  </a:tcPr>
                </a:tc>
              </a:tr>
              <a:tr h="370000">
                <a:tc>
                  <a:txBody>
                    <a:bodyPr/>
                    <a:lstStyle/>
                    <a:p>
                      <a:r>
                        <a:rPr sz="1200" b="0">
                          <a:solidFill>
                            <a:srgbClr val="091F2C"/>
                          </a:solidFill>
                          <a:latin typeface="Segoe UI"/>
                        </a:rPr>
                        <a:t>Evaluation approach in Foundry</a:t>
                      </a:r>
                    </a:p>
                  </a:txBody>
                  <a:tcPr>
                    <a:solidFill>
                      <a:srgbClr val="FFFFFF"/>
                    </a:solidFill>
                  </a:tcPr>
                </a:tc>
                <a:tc>
                  <a:txBody>
                    <a:bodyPr/>
                    <a:lstStyle/>
                    <a:p>
                      <a:r>
                        <a:rPr sz="1200" b="0">
                          <a:solidFill>
                            <a:srgbClr val="091F2C"/>
                          </a:solidFill>
                          <a:latin typeface="Segoe UI"/>
                        </a:rPr>
                        <a:t>https://learn.microsoft.com/azure/ai-foundry/concepts/evaluation-approach-gen-ai</a:t>
                      </a:r>
                    </a:p>
                  </a:txBody>
                  <a:tcPr>
                    <a:solidFill>
                      <a:srgbClr val="FFFFFF"/>
                    </a:solidFill>
                  </a:tcPr>
                </a:tc>
              </a:tr>
              <a:tr h="370000">
                <a:tc>
                  <a:txBody>
                    <a:bodyPr/>
                    <a:lstStyle/>
                    <a:p>
                      <a:r>
                        <a:rPr sz="1200" b="0">
                          <a:solidFill>
                            <a:srgbClr val="091F2C"/>
                          </a:solidFill>
                          <a:latin typeface="Segoe UI"/>
                        </a:rPr>
                        <a:t>Agent evaluators</a:t>
                      </a:r>
                    </a:p>
                  </a:txBody>
                  <a:tcPr>
                    <a:solidFill>
                      <a:srgbClr val="FFFFFF"/>
                    </a:solidFill>
                  </a:tcPr>
                </a:tc>
                <a:tc>
                  <a:txBody>
                    <a:bodyPr/>
                    <a:lstStyle/>
                    <a:p>
                      <a:r>
                        <a:rPr sz="1200" b="0">
                          <a:solidFill>
                            <a:srgbClr val="091F2C"/>
                          </a:solidFill>
                          <a:latin typeface="Segoe UI"/>
                        </a:rPr>
                        <a:t>https://learn.microsoft.com/azure/ai-foundry/concepts/evaluation-evaluators/agent-evaluators</a:t>
                      </a:r>
                    </a:p>
                  </a:txBody>
                  <a:tcPr>
                    <a:solidFill>
                      <a:srgbClr val="FFFFFF"/>
                    </a:solidFill>
                  </a:tcPr>
                </a:tc>
              </a:tr>
              <a:tr h="370000">
                <a:tc>
                  <a:txBody>
                    <a:bodyPr/>
                    <a:lstStyle/>
                    <a:p>
                      <a:r>
                        <a:rPr sz="1200" b="0">
                          <a:solidFill>
                            <a:srgbClr val="091F2C"/>
                          </a:solidFill>
                          <a:latin typeface="Segoe UI"/>
                        </a:rPr>
                        <a:t>Agent development lifecycle</a:t>
                      </a:r>
                    </a:p>
                  </a:txBody>
                  <a:tcPr>
                    <a:solidFill>
                      <a:srgbClr val="FFFFFF"/>
                    </a:solidFill>
                  </a:tcPr>
                </a:tc>
                <a:tc>
                  <a:txBody>
                    <a:bodyPr/>
                    <a:lstStyle/>
                    <a:p>
                      <a:r>
                        <a:rPr sz="1200" b="0">
                          <a:solidFill>
                            <a:srgbClr val="091F2C"/>
                          </a:solidFill>
                          <a:latin typeface="Segoe UI"/>
                        </a:rPr>
                        <a:t>https://learn.microsoft.com/azure/ai-foundry/agents/concepts/development-lifecycle</a:t>
                      </a:r>
                    </a:p>
                  </a:txBody>
                  <a:tcPr>
                    <a:solidFill>
                      <a:srgbClr val="FFFFFF"/>
                    </a:solidFill>
                  </a:tcPr>
                </a:tc>
              </a:tr>
              <a:tr h="370000">
                <a:tc>
                  <a:txBody>
                    <a:bodyPr/>
                    <a:lstStyle/>
                    <a:p>
                      <a:r>
                        <a:rPr sz="1200" b="0">
                          <a:solidFill>
                            <a:srgbClr val="091F2C"/>
                          </a:solidFill>
                          <a:latin typeface="Segoe UI"/>
                        </a:rPr>
                        <a:t>Trace agent overview</a:t>
                      </a:r>
                    </a:p>
                  </a:txBody>
                  <a:tcPr>
                    <a:solidFill>
                      <a:srgbClr val="FFFFFF"/>
                    </a:solidFill>
                  </a:tcPr>
                </a:tc>
                <a:tc>
                  <a:txBody>
                    <a:bodyPr/>
                    <a:lstStyle/>
                    <a:p>
                      <a:r>
                        <a:rPr sz="1200" b="0">
                          <a:solidFill>
                            <a:srgbClr val="091F2C"/>
                          </a:solidFill>
                          <a:latin typeface="Segoe UI"/>
                        </a:rPr>
                        <a:t>https://learn.microsoft.com/azure/ai-foundry/observability/concepts/trace-agent-concept</a:t>
                      </a:r>
                    </a:p>
                  </a:txBody>
                  <a:tcPr>
                    <a:solidFill>
                      <a:srgbClr val="FFFFFF"/>
                    </a:solidFill>
                  </a:tcPr>
                </a:tc>
              </a:tr>
              <a:tr h="370000">
                <a:tc>
                  <a:txBody>
                    <a:bodyPr/>
                    <a:lstStyle/>
                    <a:p>
                      <a:r>
                        <a:rPr sz="1200" b="0">
                          <a:solidFill>
                            <a:srgbClr val="091F2C"/>
                          </a:solidFill>
                          <a:latin typeface="Segoe UI"/>
                        </a:rPr>
                        <a:t>Monitor agents dashboard</a:t>
                      </a:r>
                    </a:p>
                  </a:txBody>
                  <a:tcPr>
                    <a:solidFill>
                      <a:srgbClr val="FFFFFF"/>
                    </a:solidFill>
                  </a:tcPr>
                </a:tc>
                <a:tc>
                  <a:txBody>
                    <a:bodyPr/>
                    <a:lstStyle/>
                    <a:p>
                      <a:r>
                        <a:rPr sz="1200" b="0">
                          <a:solidFill>
                            <a:srgbClr val="091F2C"/>
                          </a:solidFill>
                          <a:latin typeface="Segoe UI"/>
                        </a:rPr>
                        <a:t>https://learn.microsoft.com/azure/ai-foundry/observability/how-to/how-to-monitor-agents-dashboard</a:t>
                      </a:r>
                    </a:p>
                  </a:txBody>
                  <a:tcPr>
                    <a:solidFill>
                      <a:srgbClr val="FFFFFF"/>
                    </a:solidFill>
                  </a:tcPr>
                </a:tc>
              </a:tr>
              <a:tr h="370000">
                <a:tc>
                  <a:txBody>
                    <a:bodyPr/>
                    <a:lstStyle/>
                    <a:p>
                      <a:r>
                        <a:rPr sz="1200" b="0">
                          <a:solidFill>
                            <a:srgbClr val="091F2C"/>
                          </a:solidFill>
                          <a:latin typeface="Segoe UI"/>
                        </a:rPr>
                        <a:t>AI red teaming agent</a:t>
                      </a:r>
                    </a:p>
                  </a:txBody>
                  <a:tcPr>
                    <a:solidFill>
                      <a:srgbClr val="FFFFFF"/>
                    </a:solidFill>
                  </a:tcPr>
                </a:tc>
                <a:tc>
                  <a:txBody>
                    <a:bodyPr/>
                    <a:lstStyle/>
                    <a:p>
                      <a:r>
                        <a:rPr sz="1200" b="0">
                          <a:solidFill>
                            <a:srgbClr val="091F2C"/>
                          </a:solidFill>
                          <a:latin typeface="Segoe UI"/>
                        </a:rPr>
                        <a:t>https://learn.microsoft.com/azure/ai-foundry/how-to/develop/run-ai-red-teaming-cloud</a:t>
                      </a:r>
                    </a:p>
                  </a:txBody>
                  <a:tcPr>
                    <a:solidFill>
                      <a:srgbClr val="FFFFFF"/>
                    </a:solidFill>
                  </a:tcPr>
                </a:tc>
              </a:tr>
              <a:tr h="370000">
                <a:tc>
                  <a:txBody>
                    <a:bodyPr/>
                    <a:lstStyle/>
                    <a:p>
                      <a:r>
                        <a:rPr sz="1200" b="0">
                          <a:solidFill>
                            <a:srgbClr val="091F2C"/>
                          </a:solidFill>
                          <a:latin typeface="Segoe UI"/>
                        </a:rPr>
                        <a:t>Application Insights monitoring</a:t>
                      </a:r>
                    </a:p>
                  </a:txBody>
                  <a:tcPr>
                    <a:solidFill>
                      <a:srgbClr val="FFFFFF"/>
                    </a:solidFill>
                  </a:tcPr>
                </a:tc>
                <a:tc>
                  <a:txBody>
                    <a:bodyPr/>
                    <a:lstStyle/>
                    <a:p>
                      <a:r>
                        <a:rPr sz="1200" b="0">
                          <a:solidFill>
                            <a:srgbClr val="091F2C"/>
                          </a:solidFill>
                          <a:latin typeface="Segoe UI"/>
                        </a:rPr>
                        <a:t>https://learn.microsoft.com/azure/ai-foundry/how-to/monitor-applications</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