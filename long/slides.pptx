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Welcome. This is the full-day, hands-on AgentOps workshop. Where the briefing answers "what is AgentOps", today answers "how do I actually ship one of my agents".</a:t>
            </a:r>
          </a:p>
          <a:p>
            <a:r>
              <a:t>- By the end of the day, each of you will have a release-readiness package filled in for one of your own production-candidate agents, plus a 30-day plan.</a:t>
            </a:r>
          </a:p>
          <a:p>
            <a:r>
              <a:t>- Audience: builders, architects, DevOps/platform, governance, and decision makers. Mixed on purpose - the labs stay no-code / low-code.</a:t>
            </a:r>
          </a:p>
          <a:p>
            <a:r>
              <a:t>- Control plane is Microsoft Foundry; runtime observability is Azure Monitor + Application Insights; the concrete tooling in the labs is the open-source AgentOps Accelerator.</a:t>
            </a:r>
          </a:p>
          <a:p>
            <a:r>
              <a:t>- Let us look at how the day runs.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One kickoff, six hands-on labs, a capstone, and a closeout. About 8 hours of content plus breaks.</a:t>
            </a:r>
          </a:p>
          <a:p>
            <a:r>
              <a:t>- The labs map onto the four-pillar operating model: Evaluate, Ship, Observe, Operate.</a:t>
            </a:r>
          </a:p>
          <a:p>
            <a:r>
              <a:t>- Every lab produces one artefact that contributes to release readiness. The capstone composes them into a single go/no-go decision.</a:t>
            </a:r>
          </a:p>
          <a:p>
            <a:r>
              <a:t>- Morning (Labs 1-3) builds the release contract and the evidence to ship. Afternoon (Labs 4-6) makes production behavior observable, safe, and continuously improving.</a:t>
            </a:r>
          </a:p>
          <a:p>
            <a:r>
              <a:t>- The deepest lab is Lab 4, observability - we protect time for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Six blocks, each paired with a hands-on lab.</a:t>
            </a:r>
          </a:p>
          <a:p>
            <a:r>
              <a:t>- We open with Foundations, then walk the four pillars in order, each anchored by a lab.</a:t>
            </a:r>
          </a:p>
          <a:p>
            <a:r>
              <a:t>- We close with the capstone, where the four pillars become one story, and a 30-day plan.</a:t>
            </a:r>
          </a:p>
          <a:p>
            <a:r>
              <a:t>- The operating model is the narrative all day; the accelerator is the "how", not the topic.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is the kickoff section, about 30 minutes before Lab 1.</a:t>
            </a:r>
          </a:p>
          <a:p>
            <a:r>
              <a:t>- Goal: align on the production gap, the four-pillar model, and the maturity move.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Teams stand up a prototype quickly, then stall at production. That gap is what AgentOps closes.</a:t>
            </a:r>
          </a:p>
          <a:p>
            <a:r>
              <a:t>- The question every team hits: can we safely ship this, and where is the evidence?</a:t>
            </a:r>
          </a:p>
          <a:p>
            <a:r>
              <a:t>- Today we build that evidence for one real agent.</a:t>
            </a:r>
          </a:p>
          <a:p>
            <a:r>
              <a:t>- The discipline that answers the gap is an operating model with four pillars.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AgentOps applies DevOps discipline to systems whose behavior is probabilistic and where releases need evidence.</a:t>
            </a:r>
          </a:p>
          <a:p>
            <a:r>
              <a:t>- AgentOps is the operating model; Microsoft Foundry is the control plane; the AgentOps Accelerator is one concrete implementation path.</a:t>
            </a:r>
          </a:p>
          <a:p>
            <a:r>
              <a:t>- We use exactly these four pillars all day. We do not use the older six-step loop or the word "Own" - the fourth pillar is Operate.</a:t>
            </a:r>
          </a:p>
          <a:p>
            <a:r>
              <a:t>- The output of the loop is release evidence and operational confidence.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Foundry orchestrates the agent lifecycle, models, evaluation, tracing, safety, and governance.</a:t>
            </a:r>
          </a:p>
          <a:p>
            <a:r>
              <a:t>- AgentOps connects those signals to release decisions, repo-side practices, CI/CD gates, readiness checks, diagnostics, and Day-2 operations.</a:t>
            </a:r>
          </a:p>
          <a:p>
            <a:r>
              <a:t>- In the labs, the AgentOps Accelerator (Azure/agentops) makes this tangible: agentops init, eval, workflow, doctor, telemetry, cockpit.</a:t>
            </a:r>
          </a:p>
          <a:p>
            <a:r>
              <a:t>- Next: where do teams sit today, and where do they start?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practical move is to pick one production-candidate agent and move it up one level - that is the whole workshop.</a:t>
            </a:r>
          </a:p>
          <a:p>
            <a:r>
              <a:t>- Today each of you picks that agent in Lab 1 and carries it through every pillar.</a:t>
            </a:r>
          </a:p>
          <a:p>
            <a:r>
              <a:t>- Set a concrete goal: reach the next maturity level on this one agent within 90 days.</a:t>
            </a:r>
          </a:p>
          <a:p>
            <a:r>
              <a:t>- Let us start: Lab 1 establishes the target and the release-readiness contract.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Lab 1 defines the target and the contract; everything else fills it in.</a:t>
            </a:r>
          </a:p>
          <a:p>
            <a:r>
              <a:t>- Labs 2 and 3 build the release evidence; Labs 4-6 make production observable, safe, and improving.</a:t>
            </a:r>
          </a:p>
          <a:p>
            <a:r>
              <a:t>- The observability metadata - agent version, eval run, release id, trace id, owner - threads through every lab and is consumed by the capstone.</a:t>
            </a:r>
          </a:p>
          <a:p>
            <a:r>
              <a:t>- Keep your artefacts consistent: the same agent_id and version everywhere.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Hands-on now. Open the Lab 1 page.</a:t>
            </a:r>
          </a:p>
          <a:p>
            <a:r>
              <a:t>- You will inventory candidate agents, pick one, map it onto Foundry and your repo with agentops init, and write the release-readiness contract.</a:t>
            </a:r>
          </a:p>
          <a:p>
            <a:r>
              <a:t>- Artefacts: agent target inventory and release-readiness contract.</a:t>
            </a:r>
          </a:p>
          <a:p>
            <a:r>
              <a:t>- Time-box the agent choice - it is reversible. The point is the pattern.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Pillar 1. Without a quality signal there is nothing to ship with confidence.</a:t>
            </a:r>
          </a:p>
          <a:p>
            <a:r>
              <a:t>- This section sets up Lab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Use Foundry's built-in evaluators. The eval dataset is a living artefact.</a:t>
            </a:r>
          </a:p>
          <a:p>
            <a:r>
              <a:t>- The release signal is the comparison vs baseline: did this version regress, and against what?</a:t>
            </a:r>
          </a:p>
          <a:p>
            <a:r>
              <a:t>- In Lab 2 you run agentops eval analyze, eval run, capture a baseline, then make a change and compare.</a:t>
            </a:r>
          </a:p>
          <a:p>
            <a:r>
              <a:t>- Quality alone is not enough - we also test adversarial behavior, which we cover in the Operate section and Lab 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Thresholds are the contract between evaluation and the CI/CD gate in the next pillar.</a:t>
            </a:r>
          </a:p>
          <a:p>
            <a:r>
              <a:t>- Hard gates stop releases; soft signals inform operations.</a:t>
            </a:r>
          </a:p>
          <a:p>
            <a:r>
              <a:t>- In Lab 2 you fill in the baseline and threshold plan; in Lab 3 the gate enforces it.</a:t>
            </a:r>
          </a:p>
          <a:p>
            <a:r>
              <a:t>- The accelerator captures the baseline file and grows a Comparison vs Baseline section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Open the Lab 2 page.</a:t>
            </a:r>
          </a:p>
          <a:p>
            <a:r>
              <a:t>- You will map journeys to ~20-40 real cases, run agentops eval run, capture a baseline, then make a small prompt change and compare to see a regression delta.</a:t>
            </a:r>
          </a:p>
          <a:p>
            <a:r>
              <a:t>- Artefacts: evaluation dataset plan and baseline and threshold plan.</a:t>
            </a:r>
          </a:p>
          <a:p>
            <a:r>
              <a:t>- Push back on hundreds of synthetic cases - twenty real ones are worth more.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Pillar 2. Signals without enforcement are just reports nobody reads.</a:t>
            </a:r>
          </a:p>
          <a:p>
            <a:r>
              <a:t>- This section sets up Lab 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is where DevOps discipline meets agentic systems.</a:t>
            </a:r>
          </a:p>
          <a:p>
            <a:r>
              <a:t>- The accelerator scaffolds these: agentops workflow analyze recommends the shape, agentops workflow generate writes the workflow files.</a:t>
            </a:r>
          </a:p>
          <a:p>
            <a:r>
              <a:t>- The lesson in Lab 3 is the failed gate - everyone should see a red check on a regressing PR, not just a passing one.</a:t>
            </a:r>
          </a:p>
          <a:p>
            <a:r>
              <a:t>- prod does not re-evaluate - the evidence is locked at qa. This surprises teams.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readiness evidence package is the single record a human reviews to approve a release.</a:t>
            </a:r>
          </a:p>
          <a:p>
            <a:r>
              <a:t>- Eight sections: target/version, evaluation, gate result, observability, safety, known risks, owner, next improvements.</a:t>
            </a:r>
          </a:p>
          <a:p>
            <a:r>
              <a:t>- agentops doctor --evidence-pack projects most of it automatically into evidence.json and evidence.md.</a:t>
            </a:r>
          </a:p>
          <a:p>
            <a:r>
              <a:t>- The gated approval between qa and prod reviews this package - it is evidence-backed, not a rubber stamp.</a:t>
            </a:r>
          </a:p>
          <a:p>
            <a:r>
              <a:t>- In Lab 3 you generate it and map it back to the release-readiness contract from Lab 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Open the Lab 3 page.</a:t>
            </a:r>
          </a:p>
          <a:p>
            <a:r>
              <a:t>- You will generate a workflow, force a failed PR gate, then produce the readiness evidence package with agentops doctor --evidence-pack.</a:t>
            </a:r>
          </a:p>
          <a:p>
            <a:r>
              <a:t>- Artefacts: CI/CD gate plan and readiness evidence package.</a:t>
            </a:r>
          </a:p>
          <a:p>
            <a:r>
              <a:t>- Make sure everyone sees the red check - that is the highlight of the morning.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Pillar 3, and the deepest part of the day. This section sets up Lab 4.</a:t>
            </a:r>
          </a:p>
          <a:p>
            <a:r>
              <a:t>- For agents, the unit of understanding is the trace, not the endpoint status.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Foundry captures plan, model, tool, and safety spans via OpenTelemetry; the application adds business context and release metadata.</a:t>
            </a:r>
          </a:p>
          <a:p>
            <a:r>
              <a:t>- The honest gap most teams have: Foundry knows the model, but not which release_id shipped a behavior - unless you attach it.</a:t>
            </a:r>
          </a:p>
          <a:p>
            <a:r>
              <a:t>- That correlation is what lets one trace answer questions across release, runtime, evaluation, and Day-2.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Seven correlation keys must be present on every production trace: trace_id, session_id, agent_version, deployment_id, eval_run_id, release_id, owner.</a:t>
            </a:r>
          </a:p>
          <a:p>
            <a:r>
              <a:t>- With them, one trace ties back to its version, the evaluation that shipped it, the release decision, and the owner to route to.</a:t>
            </a:r>
          </a:p>
          <a:p>
            <a:r>
              <a:t>- Lab 1 defined these keys; Lab 4 makes them present on every trace; the capstone uses them.</a:t>
            </a:r>
          </a:p>
          <a:p>
            <a:r>
              <a:t>- This is the difference between aspirational observability and a real thread.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alert without a runbook action is noise. Every signal maps to a concrete response.</a:t>
            </a:r>
          </a:p>
          <a:p>
            <a:r>
              <a:t>- The closed loop: a trace explains a failure; a reviewed trace becomes a new eval row; the row enters the gate; the gate prevents recurrence.</a:t>
            </a:r>
          </a:p>
          <a:p>
            <a:r>
              <a:t>- That is how Observe feeds Operate, and how Operate feeds the next Evaluate and Ship cycle.</a:t>
            </a:r>
          </a:p>
          <a:p>
            <a:r>
              <a:t>- In Lab 4 you design four dashboard views, map alerts to actions, and promote one real trace into an eval 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Open the Lab 4 page. This is the lab we protect time for.</a:t>
            </a:r>
          </a:p>
          <a:p>
            <a:r>
              <a:t>- You will define a trace schema, wire the seven correlation keys, import telemetry, design four dashboard views, map alerts to actions, and close the loop with agentops eval promote-traces.</a:t>
            </a:r>
          </a:p>
          <a:p>
            <a:r>
              <a:t>- Artefacts: observability correlation model and dashboard and alert plan.</a:t>
            </a:r>
          </a:p>
          <a:p>
            <a:r>
              <a:t>- The key "aha": discovering the missing release metadata on your traces.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Pillar 4. Shipping is not the finish line - it is where operational work begins.</a:t>
            </a:r>
          </a:p>
          <a:p>
            <a:r>
              <a:t>- This section sets up Labs 5 and 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quality score will not catch a jailbreak. Safety needs its own signal and its own follow-through.</a:t>
            </a:r>
          </a:p>
          <a:p>
            <a:r>
              <a:t>- The follow-through loop is the lesson: every red-team finding becomes an adversarial eval row that the PR gate would catch next time.</a:t>
            </a:r>
          </a:p>
          <a:p>
            <a:r>
              <a:t>- In Lab 5 you scope risks, run a scan, and follow findings through to eval coverage.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Ambiguous accountability is the most common reason agents stall before production.</a:t>
            </a:r>
          </a:p>
          <a:p>
            <a:r>
              <a:t>- The RACI map names who is Responsible, Accountable, Consulted, and Informed for evaluation sign-off, release approval, safety review, incident response, and cost ownership.</a:t>
            </a:r>
          </a:p>
          <a:p>
            <a:r>
              <a:t>- The common finding: "nobody" owns release approval today. Surface it as a finding, not a failure.</a:t>
            </a:r>
          </a:p>
          <a:p>
            <a:r>
              <a:t>- In Lab 5 you fill in this map for your own agent and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severity table sets expectations so teams neither over- nor under-react.</a:t>
            </a:r>
          </a:p>
          <a:p>
            <a:r>
              <a:t>- The triage flow makes containment explicit - stop the bleed before debugging.</a:t>
            </a:r>
          </a:p>
          <a:p>
            <a:r>
              <a:t>- Continuous improvement: reviewed production traces are promoted into eval rows with agentops eval promote-traces. The four-pillar loop closes when Operate feeds the next Evaluate and Ship cycle.</a:t>
            </a:r>
          </a:p>
          <a:p>
            <a:r>
              <a:t>- Model lifecycle (deprecation, new versions, cost pressure) is handled the same way: treat a model change as a release candidate, not a config flip.</a:t>
            </a:r>
          </a:p>
          <a:p>
            <a:r>
              <a:t>- Labs 5 and 6 produce the safety/governance and the incident/improvement plans.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Open Lab 5, then Lab 6.</a:t>
            </a:r>
          </a:p>
          <a:p>
            <a:r>
              <a:t>- Lab 5: scope risks, run a red-team scan, follow findings to eval rows, and draw the RACI map.</a:t>
            </a:r>
          </a:p>
          <a:p>
            <a:r>
              <a:t>- Lab 6: define the severity model, walk one incident end to end, and promote the trace into eval coverage.</a:t>
            </a:r>
          </a:p>
          <a:p>
            <a:r>
              <a:t>- Keep each focused: in Lab 6, one incident walked completely beats several half-walked.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is where the four pillars become one story.</a:t>
            </a:r>
          </a:p>
          <a:p>
            <a:r>
              <a:t>- You will assemble the readiness evidence package, walk one trace from interaction to owner, walk the eight contract criteria, and record a go/no-go decision.</a:t>
            </a:r>
          </a:p>
          <a:p>
            <a:r>
              <a:t>- For every "not met" criterion, write one action with an owner and a date - that is your 30-day plan.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single question is the spine of the whole workshop.</a:t>
            </a:r>
          </a:p>
          <a:p>
            <a:r>
              <a:t>- The capstone proves the observability thread is real: one trace, walked from trace_id to agent_version to eval_run_id to release_id to owner, with no missing link.</a:t>
            </a:r>
          </a:p>
          <a:p>
            <a:r>
              <a:t>- Resist passing everyone. A no-go with a clear 30-day plan is a successful outcome.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You do not need to boil the ocean. One agent, the four pillars end to end.</a:t>
            </a:r>
          </a:p>
          <a:p>
            <a:r>
              <a:t>- Once the pattern is proven on one agent, it scales across the portfolio without re-litigating every decision.</a:t>
            </a:r>
          </a:p>
          <a:p>
            <a:r>
              <a:t>- Take the artefacts with you - they are your release-readiness package.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Thank you for the full day. You leave with a release-readiness package and a 30-day plan for one agent.</a:t>
            </a:r>
          </a:p>
          <a:p>
            <a:r>
              <a:t>- Reach out to your account team to continue, and explore the AgentOps Accelerator docs for pipeline, dashboard, and Doctor depth.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Reference links for deeper exploration of each pillar.</a:t>
            </a:r>
          </a:p>
          <a:p>
            <a:r>
              <a:t>- The accelerator docs site links pipelines, dashboards, Doctor checks, and evaluator reference.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3079000"/>
            <a:ext cx="11018838" cy="700000"/>
          </a:xfrm>
          <a:prstGeom prst="rect">
            <a:avLst/>
          </a:prstGeom>
          <a:noFill/>
        </p:spPr>
        <p:txBody>
          <a:bodyPr wrap="square">
            <a:spAutoFit/>
          </a:bodyPr>
          <a:lstStyle/>
          <a:p>
            <a:pPr algn="l"/>
            <a:r>
              <a:rPr sz="3600" b="0">
                <a:solidFill>
                  <a:srgbClr val="0078D4"/>
                </a:solidFill>
                <a:latin typeface="Segoe UI Semibold"/>
              </a:rPr>
              <a:t>AgentOps Value Delivery Workshop</a:t>
            </a:r>
          </a:p>
        </p:txBody>
      </p:sp>
      <p:sp>
        <p:nvSpPr>
          <p:cNvPr id="3" name="TextBox 2"/>
          <p:cNvSpPr txBox="1"/>
          <p:nvPr/>
        </p:nvSpPr>
        <p:spPr>
          <a:xfrm>
            <a:off x="584200" y="4240850"/>
            <a:ext cx="11018838" cy="600000"/>
          </a:xfrm>
          <a:prstGeom prst="rect">
            <a:avLst/>
          </a:prstGeom>
          <a:noFill/>
        </p:spPr>
        <p:txBody>
          <a:bodyPr wrap="square">
            <a:spAutoFit/>
          </a:bodyPr>
          <a:lstStyle/>
          <a:p>
            <a:pPr algn="l"/>
            <a:r>
              <a:rPr sz="2200" b="0">
                <a:solidFill>
                  <a:srgbClr val="555555"/>
                </a:solidFill>
                <a:latin typeface="Segoe UI"/>
              </a:rPr>
              <a:t>Take one of your agents to production - with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How today runs</a:t>
            </a:r>
          </a:p>
        </p:txBody>
      </p:sp>
      <p:pic>
        <p:nvPicPr>
          <p:cNvPr id="3" name="Full-day flow: kickoff, six labs across the four pillars, then a capstone review" descr="Full-day flow: kickoff, six labs across the four pillars, then a capstone review"/>
          <p:cNvPicPr>
            <a:picLocks noChangeAspect="1"/>
          </p:cNvPicPr>
          <p:nvPr/>
        </p:nvPicPr>
        <p:blipFill>
          <a:blip r:embed="rId3"/>
          <a:stretch>
            <a:fillRect/>
          </a:stretch>
        </p:blipFill>
        <p:spPr>
          <a:xfrm>
            <a:off x="8260080" y="1828800"/>
            <a:ext cx="3657600" cy="177372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Agenda</a:t>
            </a:r>
          </a:p>
        </p:txBody>
      </p:sp>
      <p:sp>
        <p:nvSpPr>
          <p:cNvPr id="3" name="TextBox 2"/>
          <p:cNvSpPr txBox="1"/>
          <p:nvPr/>
        </p:nvSpPr>
        <p:spPr>
          <a:xfrm>
            <a:off x="584200" y="1200000"/>
            <a:ext cx="11018838" cy="4833938"/>
          </a:xfrm>
          <a:prstGeom prst="rect">
            <a:avLst/>
          </a:prstGeom>
          <a:noFill/>
        </p:spPr>
        <p:txBody>
          <a:bodyPr wrap="square">
            <a:spAutoFit/>
          </a:bodyPr>
          <a:lstStyle/>
          <a:p>
            <a:pPr>
              <a:spcAft>
                <a:spcPts val="400"/>
              </a:spcAft>
            </a:pPr>
            <a:r>
              <a:rPr sz="1600">
                <a:solidFill>
                  <a:srgbClr val="091F2C"/>
                </a:solidFill>
                <a:latin typeface="Segoe UI"/>
              </a:rPr>
              <a:t>• </a:t>
            </a:r>
            <a:r>
              <a:rPr sz="1600" b="1">
                <a:solidFill>
                  <a:srgbClr val="091F2C"/>
                </a:solidFill>
                <a:latin typeface="Segoe UI"/>
              </a:rPr>
              <a:t>AgentOps Foundations</a:t>
            </a:r>
            <a:r>
              <a:rPr sz="1600" b="0">
                <a:solidFill>
                  <a:srgbClr val="091F2C"/>
                </a:solidFill>
                <a:latin typeface="Segoe UI"/>
              </a:rPr>
              <a:t> - the production gap and the four-pillar model</a:t>
            </a:r>
          </a:p>
          <a:p>
            <a:pPr>
              <a:spcAft>
                <a:spcPts val="400"/>
              </a:spcAft>
            </a:pPr>
            <a:r>
              <a:rPr sz="1600">
                <a:solidFill>
                  <a:srgbClr val="091F2C"/>
                </a:solidFill>
                <a:latin typeface="Segoe UI"/>
              </a:rPr>
              <a:t>• </a:t>
            </a:r>
            <a:r>
              <a:rPr sz="1600" b="1">
                <a:solidFill>
                  <a:srgbClr val="091F2C"/>
                </a:solidFill>
                <a:latin typeface="Segoe UI"/>
              </a:rPr>
              <a:t>Evaluate</a:t>
            </a:r>
            <a:r>
              <a:rPr sz="1600" b="0">
                <a:solidFill>
                  <a:srgbClr val="091F2C"/>
                </a:solidFill>
                <a:latin typeface="Segoe UI"/>
              </a:rPr>
              <a:t> - the release signal: datasets, evaluators, thresholds, baselines</a:t>
            </a:r>
          </a:p>
          <a:p>
            <a:pPr>
              <a:spcAft>
                <a:spcPts val="400"/>
              </a:spcAft>
            </a:pPr>
            <a:r>
              <a:rPr sz="1600">
                <a:solidFill>
                  <a:srgbClr val="091F2C"/>
                </a:solidFill>
                <a:latin typeface="Segoe UI"/>
              </a:rPr>
              <a:t>• </a:t>
            </a:r>
            <a:r>
              <a:rPr sz="1600" b="1">
                <a:solidFill>
                  <a:srgbClr val="091F2C"/>
                </a:solidFill>
                <a:latin typeface="Segoe UI"/>
              </a:rPr>
              <a:t>Ship</a:t>
            </a:r>
            <a:r>
              <a:rPr sz="1600" b="0">
                <a:solidFill>
                  <a:srgbClr val="091F2C"/>
                </a:solidFill>
                <a:latin typeface="Segoe UI"/>
              </a:rPr>
              <a:t> - CI/CD gates, environment promotion, and release evidence</a:t>
            </a:r>
          </a:p>
          <a:p>
            <a:pPr>
              <a:spcAft>
                <a:spcPts val="400"/>
              </a:spcAft>
            </a:pPr>
            <a:r>
              <a:rPr sz="1600">
                <a:solidFill>
                  <a:srgbClr val="091F2C"/>
                </a:solidFill>
                <a:latin typeface="Segoe UI"/>
              </a:rPr>
              <a:t>• </a:t>
            </a:r>
            <a:r>
              <a:rPr sz="1600" b="1">
                <a:solidFill>
                  <a:srgbClr val="091F2C"/>
                </a:solidFill>
                <a:latin typeface="Segoe UI"/>
              </a:rPr>
              <a:t>Observe</a:t>
            </a:r>
            <a:r>
              <a:rPr sz="1600" b="0">
                <a:solidFill>
                  <a:srgbClr val="091F2C"/>
                </a:solidFill>
                <a:latin typeface="Segoe UI"/>
              </a:rPr>
              <a:t> - traces, correlation, dashboards, alerts, and the closed loop</a:t>
            </a:r>
          </a:p>
          <a:p>
            <a:pPr>
              <a:spcAft>
                <a:spcPts val="400"/>
              </a:spcAft>
            </a:pPr>
            <a:r>
              <a:rPr sz="1600">
                <a:solidFill>
                  <a:srgbClr val="091F2C"/>
                </a:solidFill>
                <a:latin typeface="Segoe UI"/>
              </a:rPr>
              <a:t>• </a:t>
            </a:r>
            <a:r>
              <a:rPr sz="1600" b="1">
                <a:solidFill>
                  <a:srgbClr val="091F2C"/>
                </a:solidFill>
                <a:latin typeface="Segoe UI"/>
              </a:rPr>
              <a:t>Operate</a:t>
            </a:r>
            <a:r>
              <a:rPr sz="1600" b="0">
                <a:solidFill>
                  <a:srgbClr val="091F2C"/>
                </a:solidFill>
                <a:latin typeface="Segoe UI"/>
              </a:rPr>
              <a:t> - safety, governance, incident response, continuous improvement</a:t>
            </a:r>
          </a:p>
          <a:p>
            <a:pPr>
              <a:spcAft>
                <a:spcPts val="400"/>
              </a:spcAft>
            </a:pPr>
            <a:r>
              <a:rPr sz="1600">
                <a:solidFill>
                  <a:srgbClr val="091F2C"/>
                </a:solidFill>
                <a:latin typeface="Segoe UI"/>
              </a:rPr>
              <a:t>• </a:t>
            </a:r>
            <a:r>
              <a:rPr sz="1600" b="1">
                <a:solidFill>
                  <a:srgbClr val="091F2C"/>
                </a:solidFill>
                <a:latin typeface="Segoe UI"/>
              </a:rPr>
              <a:t>Capstone and next steps</a:t>
            </a:r>
            <a:r>
              <a:rPr sz="1600" b="0">
                <a:solidFill>
                  <a:srgbClr val="091F2C"/>
                </a:solidFill>
                <a:latin typeface="Segoe UI"/>
              </a:rPr>
              <a:t> - compose the evidence, decide, and plan 30 days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3079000"/>
            <a:ext cx="11018838" cy="700000"/>
          </a:xfrm>
          <a:prstGeom prst="rect">
            <a:avLst/>
          </a:prstGeom>
          <a:noFill/>
        </p:spPr>
        <p:txBody>
          <a:bodyPr wrap="square">
            <a:spAutoFit/>
          </a:bodyPr>
          <a:lstStyle/>
          <a:p>
            <a:pPr algn="l"/>
            <a:r>
              <a:rPr sz="3600" b="0">
                <a:solidFill>
                  <a:srgbClr val="091F2C"/>
                </a:solidFill>
                <a:latin typeface="Segoe UI Semibold"/>
              </a:rPr>
              <a:t>AgentOps Foundations</a:t>
            </a:r>
          </a:p>
        </p:txBody>
      </p:sp>
      <p:sp>
        <p:nvSpPr>
          <p:cNvPr id="3" name="TextBox 2"/>
          <p:cNvSpPr txBox="1"/>
          <p:nvPr/>
        </p:nvSpPr>
        <p:spPr>
          <a:xfrm>
            <a:off x="584200" y="4240850"/>
            <a:ext cx="11018838" cy="600000"/>
          </a:xfrm>
          <a:prstGeom prst="rect">
            <a:avLst/>
          </a:prstGeom>
          <a:noFill/>
        </p:spPr>
        <p:txBody>
          <a:bodyPr wrap="square">
            <a:spAutoFit/>
          </a:bodyPr>
          <a:lstStyle/>
          <a:p>
            <a:pPr algn="l"/>
            <a:r>
              <a:rPr sz="2200" b="0">
                <a:solidFill>
                  <a:srgbClr val="555555"/>
                </a:solidFill>
                <a:latin typeface="Segoe UI"/>
              </a:rPr>
              <a:t>Why agents need a new operating discipline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The production gap</a:t>
            </a:r>
          </a:p>
        </p:txBody>
      </p:sp>
      <p:sp>
        <p:nvSpPr>
          <p:cNvPr id="3" name="TextBox 2"/>
          <p:cNvSpPr txBox="1"/>
          <p:nvPr/>
        </p:nvSpPr>
        <p:spPr>
          <a:xfrm>
            <a:off x="584200" y="1200000"/>
            <a:ext cx="11018838" cy="350000"/>
          </a:xfrm>
          <a:prstGeom prst="rect">
            <a:avLst/>
          </a:prstGeom>
          <a:noFill/>
        </p:spPr>
        <p:txBody>
          <a:bodyPr wrap="square">
            <a:spAutoFit/>
          </a:bodyPr>
          <a:lstStyle/>
          <a:p>
            <a:r>
              <a:rPr sz="1800" b="0">
                <a:solidFill>
                  <a:srgbClr val="555555"/>
                </a:solidFill>
                <a:latin typeface="Segoe UI"/>
              </a:rPr>
              <a:t>The bottleneck moved from building the first demo to proving that the next version is safe to release</a:t>
            </a:r>
          </a:p>
        </p:txBody>
      </p:sp>
      <p:sp>
        <p:nvSpPr>
          <p:cNvPr id="4" name="TextBox 3"/>
          <p:cNvSpPr txBox="1"/>
          <p:nvPr/>
        </p:nvSpPr>
        <p:spPr>
          <a:xfrm>
            <a:off x="584200" y="2095500"/>
            <a:ext cx="11018838" cy="4833938"/>
          </a:xfrm>
          <a:prstGeom prst="rect">
            <a:avLst/>
          </a:prstGeom>
          <a:noFill/>
        </p:spPr>
        <p:txBody>
          <a:bodyPr wrap="square">
            <a:spAutoFit/>
          </a:bodyPr>
          <a:lstStyle/>
          <a:p>
            <a:pPr>
              <a:spcAft>
                <a:spcPts val="400"/>
              </a:spcAft>
            </a:pPr>
            <a:r>
              <a:rPr sz="1600">
                <a:solidFill>
                  <a:srgbClr val="091F2C"/>
                </a:solidFill>
                <a:latin typeface="Segoe UI"/>
              </a:rPr>
              <a:t>• </a:t>
            </a:r>
            <a:r>
              <a:rPr sz="1600" b="0">
                <a:solidFill>
                  <a:srgbClr val="091F2C"/>
                </a:solidFill>
                <a:latin typeface="Segoe UI"/>
              </a:rPr>
              <a:t>A GenAI prototype takes days. Production takes proof.</a:t>
            </a:r>
          </a:p>
          <a:p>
            <a:pPr>
              <a:spcAft>
                <a:spcPts val="400"/>
              </a:spcAft>
            </a:pPr>
            <a:r>
              <a:rPr sz="1600">
                <a:solidFill>
                  <a:srgbClr val="091F2C"/>
                </a:solidFill>
                <a:latin typeface="Segoe UI"/>
              </a:rPr>
              <a:t>• </a:t>
            </a:r>
            <a:r>
              <a:rPr sz="1600" b="0">
                <a:solidFill>
                  <a:srgbClr val="091F2C"/>
                </a:solidFill>
                <a:latin typeface="Segoe UI"/>
              </a:rPr>
              <a:t>Agents add non-determinism, tool-calling risk, prompt regression, and changing user behavior.</a:t>
            </a:r>
          </a:p>
          <a:p>
            <a:pPr>
              <a:spcAft>
                <a:spcPts val="400"/>
              </a:spcAft>
            </a:pPr>
            <a:r>
              <a:rPr sz="1600">
                <a:solidFill>
                  <a:srgbClr val="091F2C"/>
                </a:solidFill>
                <a:latin typeface="Segoe UI"/>
              </a:rPr>
              <a:t>• </a:t>
            </a:r>
            <a:r>
              <a:rPr sz="1600" b="0">
                <a:solidFill>
                  <a:srgbClr val="091F2C"/>
                </a:solidFill>
                <a:latin typeface="Segoe UI"/>
              </a:rPr>
              <a:t>Production introduces new operational risk: quality, safety, monitoring, cost, operations, and release confidence.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The four-pillar AgentOps model</a:t>
            </a:r>
          </a:p>
        </p:txBody>
      </p:sp>
      <p:sp>
        <p:nvSpPr>
          <p:cNvPr id="3" name="TextBox 2"/>
          <p:cNvSpPr txBox="1"/>
          <p:nvPr/>
        </p:nvSpPr>
        <p:spPr>
          <a:xfrm>
            <a:off x="584200" y="1200000"/>
            <a:ext cx="11018838" cy="350000"/>
          </a:xfrm>
          <a:prstGeom prst="rect">
            <a:avLst/>
          </a:prstGeom>
          <a:noFill/>
        </p:spPr>
        <p:txBody>
          <a:bodyPr wrap="square">
            <a:spAutoFit/>
          </a:bodyPr>
          <a:lstStyle/>
          <a:p>
            <a:r>
              <a:rPr sz="1800" b="0">
                <a:solidFill>
                  <a:srgbClr val="555555"/>
                </a:solidFill>
                <a:latin typeface="Segoe UI"/>
              </a:rPr>
              <a:t>Evaluate, Ship, Observe, Operate - the repeatable loop around Foundry</a:t>
            </a:r>
          </a:p>
        </p:txBody>
      </p:sp>
      <p:graphicFrame>
        <p:nvGraphicFramePr>
          <p:cNvPr id="4" name="Table 3"/>
          <p:cNvGraphicFramePr>
            <a:graphicFrameLocks noGrp="1"/>
          </p:cNvGraphicFramePr>
          <p:nvPr/>
        </p:nvGraphicFramePr>
        <p:xfrm>
          <a:off x="584200" y="2095500"/>
          <a:ext cx="11018838" cy="1850000"/>
        </p:xfrm>
        <a:graphic>
          <a:graphicData uri="http://schemas.openxmlformats.org/drawingml/2006/table">
            <a:tbl>
              <a:tblPr firstRow="0" bandRow="0" bandCol="0" lastRow="0" firstCol="0" lastCol="0">
                <a:tableStyleId>{5C22544A-7EE6-4342-B048-85BDC9FD1C3A}</a:tableStyleId>
                <a:tblStyleId>{5940675A-B579-460E-94D1-54222C63F5DA}</a:tblStyleId>
              </a:tblPr>
              <a:tblGrid>
                <a:gridCol w="3672946"/>
                <a:gridCol w="3672946"/>
                <a:gridCol w="3672946"/>
              </a:tblGrid>
              <a:tr h="370000">
                <a:tc>
                  <a:txBody>
                    <a:bodyPr/>
                    <a:lstStyle/>
                    <a:p>
                      <a:r>
                        <a:rPr sz="1200" b="1">
                          <a:solidFill>
                            <a:srgbClr val="FFFFFF"/>
                          </a:solidFill>
                          <a:latin typeface="Segoe UI"/>
                        </a:rPr>
                        <a:t>Pillar</a:t>
                      </a:r>
                    </a:p>
                  </a:txBody>
                  <a:tcPr>
                    <a:solidFill>
                      <a:srgbClr val="0078D4"/>
                    </a:solidFill>
                  </a:tcPr>
                </a:tc>
                <a:tc>
                  <a:txBody>
                    <a:bodyPr/>
                    <a:lstStyle/>
                    <a:p>
                      <a:r>
                        <a:rPr sz="1200" b="1">
                          <a:solidFill>
                            <a:srgbClr val="FFFFFF"/>
                          </a:solidFill>
                          <a:latin typeface="Segoe UI"/>
                        </a:rPr>
                        <a:t>Question it answers</a:t>
                      </a:r>
                    </a:p>
                  </a:txBody>
                  <a:tcPr>
                    <a:solidFill>
                      <a:srgbClr val="0078D4"/>
                    </a:solidFill>
                  </a:tcPr>
                </a:tc>
                <a:tc>
                  <a:txBody>
                    <a:bodyPr/>
                    <a:lstStyle/>
                    <a:p>
                      <a:r>
                        <a:rPr sz="1200" b="1">
                          <a:solidFill>
                            <a:srgbClr val="FFFFFF"/>
                          </a:solidFill>
                          <a:latin typeface="Segoe UI"/>
                        </a:rPr>
                        <a:t>Example practices</a:t>
                      </a:r>
                    </a:p>
                  </a:txBody>
                  <a:tcPr>
                    <a:solidFill>
                      <a:srgbClr val="0078D4"/>
                    </a:solidFill>
                  </a:tcPr>
                </a:tc>
              </a:tr>
              <a:tr h="370000">
                <a:tc>
                  <a:txBody>
                    <a:bodyPr/>
                    <a:lstStyle/>
                    <a:p>
                      <a:r>
                        <a:rPr sz="1200" b="1">
                          <a:solidFill>
                            <a:srgbClr val="091F2C"/>
                          </a:solidFill>
                          <a:latin typeface="Segoe UI"/>
                        </a:rPr>
                        <a:t>Evaluate</a:t>
                      </a:r>
                    </a:p>
                  </a:txBody>
                  <a:tcPr>
                    <a:solidFill>
                      <a:srgbClr val="FFFFFF"/>
                    </a:solidFill>
                  </a:tcPr>
                </a:tc>
                <a:tc>
                  <a:txBody>
                    <a:bodyPr/>
                    <a:lstStyle/>
                    <a:p>
                      <a:r>
                        <a:rPr sz="1200" b="0">
                          <a:solidFill>
                            <a:srgbClr val="091F2C"/>
                          </a:solidFill>
                          <a:latin typeface="Segoe UI"/>
                        </a:rPr>
                        <a:t>Is this version good and safe enough?</a:t>
                      </a:r>
                    </a:p>
                  </a:txBody>
                  <a:tcPr>
                    <a:solidFill>
                      <a:srgbClr val="FFFFFF"/>
                    </a:solidFill>
                  </a:tcPr>
                </a:tc>
                <a:tc>
                  <a:txBody>
                    <a:bodyPr/>
                    <a:lstStyle/>
                    <a:p>
                      <a:r>
                        <a:rPr sz="1200" b="0">
                          <a:solidFill>
                            <a:srgbClr val="091F2C"/>
                          </a:solidFill>
                          <a:latin typeface="Segoe UI"/>
                        </a:rPr>
                        <a:t>golden datasets, evaluators, thresholds, red teaming</a:t>
                      </a:r>
                    </a:p>
                  </a:txBody>
                  <a:tcPr>
                    <a:solidFill>
                      <a:srgbClr val="FFFFFF"/>
                    </a:solidFill>
                  </a:tcPr>
                </a:tc>
              </a:tr>
              <a:tr h="370000">
                <a:tc>
                  <a:txBody>
                    <a:bodyPr/>
                    <a:lstStyle/>
                    <a:p>
                      <a:r>
                        <a:rPr sz="1200" b="1">
                          <a:solidFill>
                            <a:srgbClr val="091F2C"/>
                          </a:solidFill>
                          <a:latin typeface="Segoe UI"/>
                        </a:rPr>
                        <a:t>Ship</a:t>
                      </a:r>
                    </a:p>
                  </a:txBody>
                  <a:tcPr>
                    <a:solidFill>
                      <a:srgbClr val="FFFFFF"/>
                    </a:solidFill>
                  </a:tcPr>
                </a:tc>
                <a:tc>
                  <a:txBody>
                    <a:bodyPr/>
                    <a:lstStyle/>
                    <a:p>
                      <a:r>
                        <a:rPr sz="1200" b="0">
                          <a:solidFill>
                            <a:srgbClr val="091F2C"/>
                          </a:solidFill>
                          <a:latin typeface="Segoe UI"/>
                        </a:rPr>
                        <a:t>What stops a bad version reaching users?</a:t>
                      </a:r>
                    </a:p>
                  </a:txBody>
                  <a:tcPr>
                    <a:solidFill>
                      <a:srgbClr val="FFFFFF"/>
                    </a:solidFill>
                  </a:tcPr>
                </a:tc>
                <a:tc>
                  <a:txBody>
                    <a:bodyPr/>
                    <a:lstStyle/>
                    <a:p>
                      <a:r>
                        <a:rPr sz="1200" b="0">
                          <a:solidFill>
                            <a:srgbClr val="091F2C"/>
                          </a:solidFill>
                          <a:latin typeface="Segoe UI"/>
                        </a:rPr>
                        <a:t>CI/CD gates, environment promotion, release evidence</a:t>
                      </a:r>
                    </a:p>
                  </a:txBody>
                  <a:tcPr>
                    <a:solidFill>
                      <a:srgbClr val="FFFFFF"/>
                    </a:solidFill>
                  </a:tcPr>
                </a:tc>
              </a:tr>
              <a:tr h="370000">
                <a:tc>
                  <a:txBody>
                    <a:bodyPr/>
                    <a:lstStyle/>
                    <a:p>
                      <a:r>
                        <a:rPr sz="1200" b="1">
                          <a:solidFill>
                            <a:srgbClr val="091F2C"/>
                          </a:solidFill>
                          <a:latin typeface="Segoe UI"/>
                        </a:rPr>
                        <a:t>Observe</a:t>
                      </a:r>
                    </a:p>
                  </a:txBody>
                  <a:tcPr>
                    <a:solidFill>
                      <a:srgbClr val="FFFFFF"/>
                    </a:solidFill>
                  </a:tcPr>
                </a:tc>
                <a:tc>
                  <a:txBody>
                    <a:bodyPr/>
                    <a:lstStyle/>
                    <a:p>
                      <a:r>
                        <a:rPr sz="1200" b="0">
                          <a:solidFill>
                            <a:srgbClr val="091F2C"/>
                          </a:solidFill>
                          <a:latin typeface="Segoe UI"/>
                        </a:rPr>
                        <a:t>What did it do in production, and why?</a:t>
                      </a:r>
                    </a:p>
                  </a:txBody>
                  <a:tcPr>
                    <a:solidFill>
                      <a:srgbClr val="FFFFFF"/>
                    </a:solidFill>
                  </a:tcPr>
                </a:tc>
                <a:tc>
                  <a:txBody>
                    <a:bodyPr/>
                    <a:lstStyle/>
                    <a:p>
                      <a:r>
                        <a:rPr sz="1200" b="0">
                          <a:solidFill>
                            <a:srgbClr val="091F2C"/>
                          </a:solidFill>
                          <a:latin typeface="Segoe UI"/>
                        </a:rPr>
                        <a:t>traces, correlation, dashboards, alerts</a:t>
                      </a:r>
                    </a:p>
                  </a:txBody>
                  <a:tcPr>
                    <a:solidFill>
                      <a:srgbClr val="FFFFFF"/>
                    </a:solidFill>
                  </a:tcPr>
                </a:tc>
              </a:tr>
              <a:tr h="370000">
                <a:tc>
                  <a:txBody>
                    <a:bodyPr/>
                    <a:lstStyle/>
                    <a:p>
                      <a:r>
                        <a:rPr sz="1200" b="1">
                          <a:solidFill>
                            <a:srgbClr val="091F2C"/>
                          </a:solidFill>
                          <a:latin typeface="Segoe UI"/>
                        </a:rPr>
                        <a:t>Operate</a:t>
                      </a:r>
                    </a:p>
                  </a:txBody>
                  <a:tcPr>
                    <a:solidFill>
                      <a:srgbClr val="FFFFFF"/>
                    </a:solidFill>
                  </a:tcPr>
                </a:tc>
                <a:tc>
                  <a:txBody>
                    <a:bodyPr/>
                    <a:lstStyle/>
                    <a:p>
                      <a:r>
                        <a:rPr sz="1200" b="0">
                          <a:solidFill>
                            <a:srgbClr val="091F2C"/>
                          </a:solidFill>
                          <a:latin typeface="Segoe UI"/>
                        </a:rPr>
                        <a:t>How do we run, fix, and improve it?</a:t>
                      </a:r>
                    </a:p>
                  </a:txBody>
                  <a:tcPr>
                    <a:solidFill>
                      <a:srgbClr val="FFFFFF"/>
                    </a:solidFill>
                  </a:tcPr>
                </a:tc>
                <a:tc>
                  <a:txBody>
                    <a:bodyPr/>
                    <a:lstStyle/>
                    <a:p>
                      <a:r>
                        <a:rPr sz="1200" b="0">
                          <a:solidFill>
                            <a:srgbClr val="091F2C"/>
                          </a:solidFill>
                          <a:latin typeface="Segoe UI"/>
                        </a:rPr>
                        <a:t>safety, governance, incidents, continuous improvement</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Foundry is the control plane</a:t>
            </a:r>
          </a:p>
        </p:txBody>
      </p:sp>
      <p:sp>
        <p:nvSpPr>
          <p:cNvPr id="3" name="TextBox 2"/>
          <p:cNvSpPr txBox="1"/>
          <p:nvPr/>
        </p:nvSpPr>
        <p:spPr>
          <a:xfrm>
            <a:off x="584200" y="1200000"/>
            <a:ext cx="11018838" cy="350000"/>
          </a:xfrm>
          <a:prstGeom prst="rect">
            <a:avLst/>
          </a:prstGeom>
          <a:noFill/>
        </p:spPr>
        <p:txBody>
          <a:bodyPr wrap="square">
            <a:spAutoFit/>
          </a:bodyPr>
          <a:lstStyle/>
          <a:p>
            <a:r>
              <a:rPr sz="1800" b="0">
                <a:solidFill>
                  <a:srgbClr val="555555"/>
                </a:solidFill>
                <a:latin typeface="Segoe UI"/>
              </a:rPr>
              <a:t>Foundry stays the control plane - AgentOps connects Foundry signals to release decisions and Day-2 action</a:t>
            </a:r>
          </a:p>
        </p:txBody>
      </p:sp>
      <p:sp>
        <p:nvSpPr>
          <p:cNvPr id="4" name="TextBox 3"/>
          <p:cNvSpPr txBox="1"/>
          <p:nvPr/>
        </p:nvSpPr>
        <p:spPr>
          <a:xfrm>
            <a:off x="584200" y="2095500"/>
            <a:ext cx="11018838" cy="4833938"/>
          </a:xfrm>
          <a:prstGeom prst="rect">
            <a:avLst/>
          </a:prstGeom>
          <a:noFill/>
        </p:spPr>
        <p:txBody>
          <a:bodyPr wrap="square">
            <a:spAutoFit/>
          </a:bodyPr>
          <a:lstStyle/>
          <a:p>
            <a:pPr>
              <a:spcAft>
                <a:spcPts val="400"/>
              </a:spcAft>
            </a:pPr>
            <a:r>
              <a:rPr sz="1600">
                <a:solidFill>
                  <a:srgbClr val="091F2C"/>
                </a:solidFill>
                <a:latin typeface="Segoe UI"/>
              </a:rPr>
              <a:t>• </a:t>
            </a:r>
            <a:r>
              <a:rPr sz="1600" b="1">
                <a:solidFill>
                  <a:srgbClr val="091F2C"/>
                </a:solidFill>
                <a:latin typeface="Segoe UI"/>
              </a:rPr>
              <a:t>Capabilities:</a:t>
            </a:r>
            <a:r>
              <a:rPr sz="1600" b="0">
                <a:solidFill>
                  <a:srgbClr val="091F2C"/>
                </a:solidFill>
                <a:latin typeface="Segoe UI"/>
              </a:rPr>
              <a:t> agents and versions, quality and safety evaluators, agent-specific evaluators, the AI Red Teaming agent, OpenTelemetry tracing, Content Safety.</a:t>
            </a:r>
          </a:p>
          <a:p>
            <a:pPr>
              <a:spcAft>
                <a:spcPts val="400"/>
              </a:spcAft>
            </a:pPr>
            <a:r>
              <a:rPr sz="1600">
                <a:solidFill>
                  <a:srgbClr val="091F2C"/>
                </a:solidFill>
                <a:latin typeface="Segoe UI"/>
              </a:rPr>
              <a:t>• </a:t>
            </a:r>
            <a:r>
              <a:rPr sz="1600" b="1">
                <a:solidFill>
                  <a:srgbClr val="091F2C"/>
                </a:solidFill>
                <a:latin typeface="Segoe UI"/>
              </a:rPr>
              <a:t>Runtime:</a:t>
            </a:r>
            <a:r>
              <a:rPr sz="1600" b="0">
                <a:solidFill>
                  <a:srgbClr val="091F2C"/>
                </a:solidFill>
                <a:latin typeface="Segoe UI"/>
              </a:rPr>
              <a:t> Azure AI projects, model deployments, tool / MCP servers, Application Insights and Log Analytics.</a:t>
            </a:r>
          </a:p>
          <a:p>
            <a:pPr>
              <a:spcAft>
                <a:spcPts val="400"/>
              </a:spcAft>
            </a:pPr>
            <a:r>
              <a:rPr sz="1600">
                <a:solidFill>
                  <a:srgbClr val="091F2C"/>
                </a:solidFill>
                <a:latin typeface="Segoe UI"/>
              </a:rPr>
              <a:t>• </a:t>
            </a:r>
            <a:r>
              <a:rPr sz="1600" b="1">
                <a:solidFill>
                  <a:srgbClr val="091F2C"/>
                </a:solidFill>
                <a:latin typeface="Segoe UI"/>
              </a:rPr>
              <a:t>AgentOps adds</a:t>
            </a:r>
            <a:r>
              <a:rPr sz="1600" b="0">
                <a:solidFill>
                  <a:srgbClr val="091F2C"/>
                </a:solidFill>
                <a:latin typeface="Segoe UI"/>
              </a:rPr>
              <a:t> the repeatable operating model around Foundry - it is not a replacement.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Maturity, and where to start</a:t>
            </a:r>
          </a:p>
        </p:txBody>
      </p:sp>
      <p:sp>
        <p:nvSpPr>
          <p:cNvPr id="3" name="TextBox 2"/>
          <p:cNvSpPr txBox="1"/>
          <p:nvPr/>
        </p:nvSpPr>
        <p:spPr>
          <a:xfrm>
            <a:off x="584200" y="1200000"/>
            <a:ext cx="11018838" cy="350000"/>
          </a:xfrm>
          <a:prstGeom prst="rect">
            <a:avLst/>
          </a:prstGeom>
          <a:noFill/>
        </p:spPr>
        <p:txBody>
          <a:bodyPr wrap="square">
            <a:spAutoFit/>
          </a:bodyPr>
          <a:lstStyle/>
          <a:p>
            <a:r>
              <a:rPr sz="1800" b="0">
                <a:solidFill>
                  <a:srgbClr val="555555"/>
                </a:solidFill>
                <a:latin typeface="Segoe UI"/>
              </a:rPr>
              <a:t>Most teams sit between Initial and Defined - move one production-candidate agent up one level</a:t>
            </a:r>
          </a:p>
        </p:txBody>
      </p:sp>
      <p:sp>
        <p:nvSpPr>
          <p:cNvPr id="4" name="TextBox 3"/>
          <p:cNvSpPr txBox="1"/>
          <p:nvPr/>
        </p:nvSpPr>
        <p:spPr>
          <a:xfrm>
            <a:off x="584200" y="2095500"/>
            <a:ext cx="11018838" cy="4833938"/>
          </a:xfrm>
          <a:prstGeom prst="rect">
            <a:avLst/>
          </a:prstGeom>
          <a:noFill/>
        </p:spPr>
        <p:txBody>
          <a:bodyPr wrap="square">
            <a:spAutoFit/>
          </a:bodyPr>
          <a:lstStyle/>
          <a:p>
            <a:pPr>
              <a:spcAft>
                <a:spcPts val="400"/>
              </a:spcAft>
            </a:pPr>
            <a:r>
              <a:rPr sz="1600">
                <a:solidFill>
                  <a:srgbClr val="091F2C"/>
                </a:solidFill>
                <a:latin typeface="Segoe UI"/>
              </a:rPr>
              <a:t>• </a:t>
            </a:r>
            <a:r>
              <a:rPr sz="1600" b="1">
                <a:solidFill>
                  <a:srgbClr val="091F2C"/>
                </a:solidFill>
                <a:latin typeface="Segoe UI"/>
              </a:rPr>
              <a:t>Initial:</a:t>
            </a:r>
            <a:r>
              <a:rPr sz="1600" b="0">
                <a:solidFill>
                  <a:srgbClr val="091F2C"/>
                </a:solidFill>
                <a:latin typeface="Segoe UI"/>
              </a:rPr>
              <a:t> ad hoc demos, manual eval, no gates, scattered logs.</a:t>
            </a:r>
          </a:p>
          <a:p>
            <a:pPr>
              <a:spcAft>
                <a:spcPts val="400"/>
              </a:spcAft>
            </a:pPr>
            <a:r>
              <a:rPr sz="1600">
                <a:solidFill>
                  <a:srgbClr val="091F2C"/>
                </a:solidFill>
                <a:latin typeface="Segoe UI"/>
              </a:rPr>
              <a:t>• </a:t>
            </a:r>
            <a:r>
              <a:rPr sz="1600" b="1">
                <a:solidFill>
                  <a:srgbClr val="091F2C"/>
                </a:solidFill>
                <a:latin typeface="Segoe UI"/>
              </a:rPr>
              <a:t>Defined:</a:t>
            </a:r>
            <a:r>
              <a:rPr sz="1600" b="0">
                <a:solidFill>
                  <a:srgbClr val="091F2C"/>
                </a:solidFill>
                <a:latin typeface="Segoe UI"/>
              </a:rPr>
              <a:t> versioned prompts and agents, pre-prod eval datasets, CI builds artefacts.</a:t>
            </a:r>
          </a:p>
          <a:p>
            <a:pPr>
              <a:spcAft>
                <a:spcPts val="400"/>
              </a:spcAft>
            </a:pPr>
            <a:r>
              <a:rPr sz="1600">
                <a:solidFill>
                  <a:srgbClr val="091F2C"/>
                </a:solidFill>
                <a:latin typeface="Segoe UI"/>
              </a:rPr>
              <a:t>• </a:t>
            </a:r>
            <a:r>
              <a:rPr sz="1600" b="1">
                <a:solidFill>
                  <a:srgbClr val="091F2C"/>
                </a:solidFill>
                <a:latin typeface="Segoe UI"/>
              </a:rPr>
              <a:t>Managed:</a:t>
            </a:r>
            <a:r>
              <a:rPr sz="1600" b="0">
                <a:solidFill>
                  <a:srgbClr val="091F2C"/>
                </a:solidFill>
                <a:latin typeface="Segoe UI"/>
              </a:rPr>
              <a:t> quality and safety gates in CI, continuous evaluation, runbooks and SLOs.</a:t>
            </a:r>
          </a:p>
          <a:p>
            <a:pPr>
              <a:spcAft>
                <a:spcPts val="400"/>
              </a:spcAft>
            </a:pPr>
            <a:r>
              <a:rPr sz="1600">
                <a:solidFill>
                  <a:srgbClr val="091F2C"/>
                </a:solidFill>
                <a:latin typeface="Segoe UI"/>
              </a:rPr>
              <a:t>• </a:t>
            </a:r>
            <a:r>
              <a:rPr sz="1600" b="1">
                <a:solidFill>
                  <a:srgbClr val="091F2C"/>
                </a:solidFill>
                <a:latin typeface="Segoe UI"/>
              </a:rPr>
              <a:t>Optimised:</a:t>
            </a:r>
            <a:r>
              <a:rPr sz="1600" b="0">
                <a:solidFill>
                  <a:srgbClr val="091F2C"/>
                </a:solidFill>
                <a:latin typeface="Segoe UI"/>
              </a:rPr>
              <a:t> drift and cost guardrails, canary plus auto-rollback, feedback flywheel.</a:t>
            </a:r>
          </a:p>
        </p:txBody>
      </p:sp>
      <p:sp>
        <p:nvSpPr>
          <p:cNvPr id="5" name="TextBox 4"/>
          <p:cNvSpPr txBox="1"/>
          <p:nvPr/>
        </p:nvSpPr>
        <p:spPr>
          <a:xfrm>
            <a:off x="584200" y="3315500"/>
            <a:ext cx="11018838" cy="800000"/>
          </a:xfrm>
          <a:prstGeom prst="rect">
            <a:avLst/>
          </a:prstGeom>
          <a:noFill/>
        </p:spPr>
        <p:txBody>
          <a:bodyPr wrap="square">
            <a:spAutoFit/>
          </a:bodyPr>
          <a:lstStyle/>
          <a:p>
            <a:pPr>
              <a:spcAft>
                <a:spcPts val="400"/>
              </a:spcAft>
            </a:pPr>
            <a:r>
              <a:rPr sz="1600" b="1">
                <a:solidFill>
                  <a:srgbClr val="091F2C"/>
                </a:solidFill>
                <a:latin typeface="Segoe UI"/>
              </a:rPr>
              <a:t>Start with one agent.</a:t>
            </a:r>
            <a:r>
              <a:rPr sz="1600" b="0">
                <a:solidFill>
                  <a:srgbClr val="091F2C"/>
                </a:solidFill>
                <a:latin typeface="Segoe UI"/>
              </a:rPr>
              <a:t> Do not boil the ocean.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How the labs connect</a:t>
            </a:r>
          </a:p>
        </p:txBody>
      </p:sp>
      <p:pic>
        <p:nvPicPr>
          <p:cNvPr id="3" name="Lab dependency graph: Lab 1 feeds the chain of Labs 2-6, all feeding the capstone, with the observability thread underneath" descr="Lab dependency graph: Lab 1 feeds the chain of Labs 2-6, all feeding the capstone, with the observability thread underneath"/>
          <p:cNvPicPr>
            <a:picLocks noChangeAspect="1"/>
          </p:cNvPicPr>
          <p:nvPr/>
        </p:nvPicPr>
        <p:blipFill>
          <a:blip r:embed="rId3"/>
          <a:stretch>
            <a:fillRect/>
          </a:stretch>
        </p:blipFill>
        <p:spPr>
          <a:xfrm>
            <a:off x="8260080" y="1828800"/>
            <a:ext cx="3657600" cy="177372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3079000"/>
            <a:ext cx="11018838" cy="700000"/>
          </a:xfrm>
          <a:prstGeom prst="rect">
            <a:avLst/>
          </a:prstGeom>
          <a:noFill/>
        </p:spPr>
        <p:txBody>
          <a:bodyPr wrap="square">
            <a:spAutoFit/>
          </a:bodyPr>
          <a:lstStyle/>
          <a:p>
            <a:pPr algn="l"/>
            <a:r>
              <a:rPr sz="3600" b="0">
                <a:solidFill>
                  <a:srgbClr val="091F2C"/>
                </a:solidFill>
                <a:latin typeface="Segoe UI Semibold"/>
              </a:rPr>
              <a:t>Lab 1: Foundations and Control Plane</a:t>
            </a:r>
          </a:p>
        </p:txBody>
      </p:sp>
      <p:sp>
        <p:nvSpPr>
          <p:cNvPr id="3" name="TextBox 2"/>
          <p:cNvSpPr txBox="1"/>
          <p:nvPr/>
        </p:nvSpPr>
        <p:spPr>
          <a:xfrm>
            <a:off x="584200" y="4240850"/>
            <a:ext cx="11018838" cy="600000"/>
          </a:xfrm>
          <a:prstGeom prst="rect">
            <a:avLst/>
          </a:prstGeom>
          <a:noFill/>
        </p:spPr>
        <p:txBody>
          <a:bodyPr wrap="square">
            <a:spAutoFit/>
          </a:bodyPr>
          <a:lstStyle/>
          <a:p>
            <a:pPr algn="l"/>
            <a:r>
              <a:rPr sz="2200" b="0">
                <a:solidFill>
                  <a:srgbClr val="555555"/>
                </a:solidFill>
                <a:latin typeface="Segoe UI"/>
              </a:rPr>
              <a:t>60 min - agent target inventory + release-readiness contract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3079000"/>
            <a:ext cx="11018838" cy="700000"/>
          </a:xfrm>
          <a:prstGeom prst="rect">
            <a:avLst/>
          </a:prstGeom>
          <a:noFill/>
        </p:spPr>
        <p:txBody>
          <a:bodyPr wrap="square">
            <a:spAutoFit/>
          </a:bodyPr>
          <a:lstStyle/>
          <a:p>
            <a:pPr algn="l"/>
            <a:r>
              <a:rPr sz="3600" b="0">
                <a:solidFill>
                  <a:srgbClr val="091F2C"/>
                </a:solidFill>
                <a:latin typeface="Segoe UI Semibold"/>
              </a:rPr>
              <a:t>Evaluate</a:t>
            </a:r>
          </a:p>
        </p:txBody>
      </p:sp>
      <p:sp>
        <p:nvSpPr>
          <p:cNvPr id="3" name="TextBox 2"/>
          <p:cNvSpPr txBox="1"/>
          <p:nvPr/>
        </p:nvSpPr>
        <p:spPr>
          <a:xfrm>
            <a:off x="584200" y="4240850"/>
            <a:ext cx="11018838" cy="600000"/>
          </a:xfrm>
          <a:prstGeom prst="rect">
            <a:avLst/>
          </a:prstGeom>
          <a:noFill/>
        </p:spPr>
        <p:txBody>
          <a:bodyPr wrap="square">
            <a:spAutoFit/>
          </a:bodyPr>
          <a:lstStyle/>
          <a:p>
            <a:pPr algn="l"/>
            <a:r>
              <a:rPr sz="2200" b="0">
                <a:solidFill>
                  <a:srgbClr val="555555"/>
                </a:solidFill>
                <a:latin typeface="Segoe UI"/>
              </a:rPr>
              <a:t>The release signal for agentic systems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Evaluation is the release signal</a:t>
            </a:r>
          </a:p>
        </p:txBody>
      </p:sp>
      <p:sp>
        <p:nvSpPr>
          <p:cNvPr id="3" name="TextBox 2"/>
          <p:cNvSpPr txBox="1"/>
          <p:nvPr/>
        </p:nvSpPr>
        <p:spPr>
          <a:xfrm>
            <a:off x="584200" y="1200000"/>
            <a:ext cx="11018838" cy="350000"/>
          </a:xfrm>
          <a:prstGeom prst="rect">
            <a:avLst/>
          </a:prstGeom>
          <a:noFill/>
        </p:spPr>
        <p:txBody>
          <a:bodyPr wrap="square">
            <a:spAutoFit/>
          </a:bodyPr>
          <a:lstStyle/>
          <a:p>
            <a:r>
              <a:rPr sz="1800" b="0">
                <a:solidFill>
                  <a:srgbClr val="555555"/>
                </a:solidFill>
                <a:latin typeface="Segoe UI"/>
              </a:rPr>
              <a:t>Evaluation is not a one-time score - it is the signal that grows as production teaches you new failure modes</a:t>
            </a:r>
          </a:p>
        </p:txBody>
      </p:sp>
      <p:sp>
        <p:nvSpPr>
          <p:cNvPr id="4" name="TextBox 3"/>
          <p:cNvSpPr txBox="1"/>
          <p:nvPr/>
        </p:nvSpPr>
        <p:spPr>
          <a:xfrm>
            <a:off x="584200" y="2095500"/>
            <a:ext cx="11018838" cy="4833938"/>
          </a:xfrm>
          <a:prstGeom prst="rect">
            <a:avLst/>
          </a:prstGeom>
          <a:noFill/>
        </p:spPr>
        <p:txBody>
          <a:bodyPr wrap="square">
            <a:spAutoFit/>
          </a:bodyPr>
          <a:lstStyle/>
          <a:p>
            <a:pPr>
              <a:spcAft>
                <a:spcPts val="400"/>
              </a:spcAft>
            </a:pPr>
            <a:r>
              <a:rPr sz="1600">
                <a:solidFill>
                  <a:srgbClr val="091F2C"/>
                </a:solidFill>
                <a:latin typeface="Segoe UI"/>
              </a:rPr>
              <a:t>• </a:t>
            </a:r>
            <a:r>
              <a:rPr sz="1600" b="0">
                <a:solidFill>
                  <a:srgbClr val="091F2C"/>
                </a:solidFill>
                <a:latin typeface="Segoe UI"/>
              </a:rPr>
              <a:t>Start with a small </a:t>
            </a:r>
            <a:r>
              <a:rPr sz="1600" b="1">
                <a:solidFill>
                  <a:srgbClr val="091F2C"/>
                </a:solidFill>
                <a:latin typeface="Segoe UI"/>
              </a:rPr>
              <a:t>golden dataset</a:t>
            </a:r>
            <a:r>
              <a:rPr sz="1600" b="0">
                <a:solidFill>
                  <a:srgbClr val="091F2C"/>
                </a:solidFill>
                <a:latin typeface="Segoe UI"/>
              </a:rPr>
              <a:t> tied to real user journeys - a few dozen real cases beat zero.</a:t>
            </a:r>
          </a:p>
          <a:p>
            <a:pPr>
              <a:spcAft>
                <a:spcPts val="400"/>
              </a:spcAft>
            </a:pPr>
            <a:r>
              <a:rPr sz="1600">
                <a:solidFill>
                  <a:srgbClr val="091F2C"/>
                </a:solidFill>
                <a:latin typeface="Segoe UI"/>
              </a:rPr>
              <a:t>• </a:t>
            </a:r>
            <a:r>
              <a:rPr sz="1600" b="0">
                <a:solidFill>
                  <a:srgbClr val="091F2C"/>
                </a:solidFill>
                <a:latin typeface="Segoe UI"/>
              </a:rPr>
              <a:t>Score </a:t>
            </a:r>
            <a:r>
              <a:rPr sz="1600" b="1">
                <a:solidFill>
                  <a:srgbClr val="091F2C"/>
                </a:solidFill>
                <a:latin typeface="Segoe UI"/>
              </a:rPr>
              <a:t>quality</a:t>
            </a:r>
            <a:r>
              <a:rPr sz="1600" b="0">
                <a:solidFill>
                  <a:srgbClr val="091F2C"/>
                </a:solidFill>
                <a:latin typeface="Segoe UI"/>
              </a:rPr>
              <a:t> (intent resolution, task adherence, relevance, coherence), </a:t>
            </a:r>
            <a:r>
              <a:rPr sz="1600" b="1">
                <a:solidFill>
                  <a:srgbClr val="091F2C"/>
                </a:solidFill>
                <a:latin typeface="Segoe UI"/>
              </a:rPr>
              <a:t>groundedness</a:t>
            </a:r>
            <a:r>
              <a:rPr sz="1600" b="0">
                <a:solidFill>
                  <a:srgbClr val="091F2C"/>
                </a:solidFill>
                <a:latin typeface="Segoe UI"/>
              </a:rPr>
              <a:t>, </a:t>
            </a:r>
            <a:r>
              <a:rPr sz="1600" b="1">
                <a:solidFill>
                  <a:srgbClr val="091F2C"/>
                </a:solidFill>
                <a:latin typeface="Segoe UI"/>
              </a:rPr>
              <a:t>agent metrics</a:t>
            </a:r>
            <a:r>
              <a:rPr sz="1600" b="0">
                <a:solidFill>
                  <a:srgbClr val="091F2C"/>
                </a:solidFill>
                <a:latin typeface="Segoe UI"/>
              </a:rPr>
              <a:t> (tool call accuracy), and </a:t>
            </a:r>
            <a:r>
              <a:rPr sz="1600" b="1">
                <a:solidFill>
                  <a:srgbClr val="091F2C"/>
                </a:solidFill>
                <a:latin typeface="Segoe UI"/>
              </a:rPr>
              <a:t>content safety</a:t>
            </a:r>
            <a:r>
              <a:rPr sz="1600" b="0">
                <a:solidFill>
                  <a:srgbClr val="091F2C"/>
                </a:solidFill>
                <a:latin typeface="Segoe UI"/>
              </a:rPr>
              <a:t>.</a:t>
            </a:r>
          </a:p>
          <a:p>
            <a:pPr>
              <a:spcAft>
                <a:spcPts val="400"/>
              </a:spcAft>
            </a:pPr>
            <a:r>
              <a:rPr sz="1600">
                <a:solidFill>
                  <a:srgbClr val="091F2C"/>
                </a:solidFill>
                <a:latin typeface="Segoe UI"/>
              </a:rPr>
              <a:t>• </a:t>
            </a:r>
            <a:r>
              <a:rPr sz="1600" b="0">
                <a:solidFill>
                  <a:srgbClr val="091F2C"/>
                </a:solidFill>
                <a:latin typeface="Segoe UI"/>
              </a:rPr>
              <a:t>Compare against a </a:t>
            </a:r>
            <a:r>
              <a:rPr sz="1600" b="1">
                <a:solidFill>
                  <a:srgbClr val="091F2C"/>
                </a:solidFill>
                <a:latin typeface="Segoe UI"/>
              </a:rPr>
              <a:t>baseline</a:t>
            </a:r>
            <a:r>
              <a:rPr sz="1600" b="0">
                <a:solidFill>
                  <a:srgbClr val="091F2C"/>
                </a:solidFill>
                <a:latin typeface="Segoe UI"/>
              </a:rPr>
              <a:t> - the last good version, not just an absolute bar.</a:t>
            </a:r>
          </a:p>
          <a:p>
            <a:pPr>
              <a:spcAft>
                <a:spcPts val="400"/>
              </a:spcAft>
            </a:pPr>
            <a:r>
              <a:rPr sz="1600">
                <a:solidFill>
                  <a:srgbClr val="091F2C"/>
                </a:solidFill>
                <a:latin typeface="Segoe UI"/>
              </a:rPr>
              <a:t>• </a:t>
            </a:r>
            <a:r>
              <a:rPr sz="1600" b="0">
                <a:solidFill>
                  <a:srgbClr val="091F2C"/>
                </a:solidFill>
                <a:latin typeface="Segoe UI"/>
              </a:rPr>
              <a:t>Promote reviewed production traces into future regression rows.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Thresholds turn scores into decisions</a:t>
            </a:r>
          </a:p>
        </p:txBody>
      </p:sp>
      <p:sp>
        <p:nvSpPr>
          <p:cNvPr id="3" name="TextBox 2"/>
          <p:cNvSpPr txBox="1"/>
          <p:nvPr/>
        </p:nvSpPr>
        <p:spPr>
          <a:xfrm>
            <a:off x="584200" y="1200000"/>
            <a:ext cx="11018838" cy="350000"/>
          </a:xfrm>
          <a:prstGeom prst="rect">
            <a:avLst/>
          </a:prstGeom>
          <a:noFill/>
        </p:spPr>
        <p:txBody>
          <a:bodyPr wrap="square">
            <a:spAutoFit/>
          </a:bodyPr>
          <a:lstStyle/>
          <a:p>
            <a:r>
              <a:rPr sz="1800" b="0">
                <a:solidFill>
                  <a:srgbClr val="555555"/>
                </a:solidFill>
                <a:latin typeface="Segoe UI"/>
              </a:rPr>
              <a:t>Decide what "good enough to ship" means - numerically - before you need it</a:t>
            </a:r>
          </a:p>
        </p:txBody>
      </p:sp>
      <p:sp>
        <p:nvSpPr>
          <p:cNvPr id="4" name="TextBox 3"/>
          <p:cNvSpPr txBox="1"/>
          <p:nvPr/>
        </p:nvSpPr>
        <p:spPr>
          <a:xfrm>
            <a:off x="584200" y="2095500"/>
            <a:ext cx="11018838" cy="4833938"/>
          </a:xfrm>
          <a:prstGeom prst="rect">
            <a:avLst/>
          </a:prstGeom>
          <a:noFill/>
        </p:spPr>
        <p:txBody>
          <a:bodyPr wrap="square">
            <a:spAutoFit/>
          </a:bodyPr>
          <a:lstStyle/>
          <a:p>
            <a:pPr>
              <a:spcAft>
                <a:spcPts val="400"/>
              </a:spcAft>
            </a:pPr>
            <a:r>
              <a:rPr sz="1600">
                <a:solidFill>
                  <a:srgbClr val="091F2C"/>
                </a:solidFill>
                <a:latin typeface="Segoe UI"/>
              </a:rPr>
              <a:t>• </a:t>
            </a:r>
            <a:r>
              <a:rPr sz="1600" b="1">
                <a:solidFill>
                  <a:srgbClr val="091F2C"/>
                </a:solidFill>
                <a:latin typeface="Segoe UI"/>
              </a:rPr>
              <a:t>Hard-gate metrics</a:t>
            </a:r>
            <a:r>
              <a:rPr sz="1600" b="0">
                <a:solidFill>
                  <a:srgbClr val="091F2C"/>
                </a:solidFill>
                <a:latin typeface="Segoe UI"/>
              </a:rPr>
              <a:t> (quality, safety) block the release if they drop below threshold.</a:t>
            </a:r>
          </a:p>
          <a:p>
            <a:pPr>
              <a:spcAft>
                <a:spcPts val="400"/>
              </a:spcAft>
            </a:pPr>
            <a:r>
              <a:rPr sz="1600">
                <a:solidFill>
                  <a:srgbClr val="091F2C"/>
                </a:solidFill>
                <a:latin typeface="Segoe UI"/>
              </a:rPr>
              <a:t>• </a:t>
            </a:r>
            <a:r>
              <a:rPr sz="1600" b="1">
                <a:solidFill>
                  <a:srgbClr val="091F2C"/>
                </a:solidFill>
                <a:latin typeface="Segoe UI"/>
              </a:rPr>
              <a:t>Soft signals</a:t>
            </a:r>
            <a:r>
              <a:rPr sz="1600" b="0">
                <a:solidFill>
                  <a:srgbClr val="091F2C"/>
                </a:solidFill>
                <a:latin typeface="Segoe UI"/>
              </a:rPr>
              <a:t> (latency, cost) become alerts, not hard blocks.</a:t>
            </a:r>
          </a:p>
          <a:p>
            <a:pPr>
              <a:spcAft>
                <a:spcPts val="400"/>
              </a:spcAft>
            </a:pPr>
            <a:r>
              <a:rPr sz="1600">
                <a:solidFill>
                  <a:srgbClr val="091F2C"/>
                </a:solidFill>
                <a:latin typeface="Segoe UI"/>
              </a:rPr>
              <a:t>• </a:t>
            </a:r>
            <a:r>
              <a:rPr sz="1600" b="0">
                <a:solidFill>
                  <a:srgbClr val="091F2C"/>
                </a:solidFill>
                <a:latin typeface="Segoe UI"/>
              </a:rPr>
              <a:t>A candidate may not regress a hard-gate metric below threshold, nor drop more than your chosen delta vs baseline.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3079000"/>
            <a:ext cx="11018838" cy="700000"/>
          </a:xfrm>
          <a:prstGeom prst="rect">
            <a:avLst/>
          </a:prstGeom>
          <a:noFill/>
        </p:spPr>
        <p:txBody>
          <a:bodyPr wrap="square">
            <a:spAutoFit/>
          </a:bodyPr>
          <a:lstStyle/>
          <a:p>
            <a:pPr algn="l"/>
            <a:r>
              <a:rPr sz="3600" b="0">
                <a:solidFill>
                  <a:srgbClr val="091F2C"/>
                </a:solidFill>
                <a:latin typeface="Segoe UI Semibold"/>
              </a:rPr>
              <a:t>Lab 2: Evaluation Design</a:t>
            </a:r>
          </a:p>
        </p:txBody>
      </p:sp>
      <p:sp>
        <p:nvSpPr>
          <p:cNvPr id="3" name="TextBox 2"/>
          <p:cNvSpPr txBox="1"/>
          <p:nvPr/>
        </p:nvSpPr>
        <p:spPr>
          <a:xfrm>
            <a:off x="584200" y="4240850"/>
            <a:ext cx="11018838" cy="600000"/>
          </a:xfrm>
          <a:prstGeom prst="rect">
            <a:avLst/>
          </a:prstGeom>
          <a:noFill/>
        </p:spPr>
        <p:txBody>
          <a:bodyPr wrap="square">
            <a:spAutoFit/>
          </a:bodyPr>
          <a:lstStyle/>
          <a:p>
            <a:pPr algn="l"/>
            <a:r>
              <a:rPr sz="2200" b="0">
                <a:solidFill>
                  <a:srgbClr val="555555"/>
                </a:solidFill>
                <a:latin typeface="Segoe UI"/>
              </a:rPr>
              <a:t>75 min - evaluation dataset plan + baseline and threshold plan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3079000"/>
            <a:ext cx="11018838" cy="700000"/>
          </a:xfrm>
          <a:prstGeom prst="rect">
            <a:avLst/>
          </a:prstGeom>
          <a:noFill/>
        </p:spPr>
        <p:txBody>
          <a:bodyPr wrap="square">
            <a:spAutoFit/>
          </a:bodyPr>
          <a:lstStyle/>
          <a:p>
            <a:pPr algn="l"/>
            <a:r>
              <a:rPr sz="3600" b="0">
                <a:solidFill>
                  <a:srgbClr val="091F2C"/>
                </a:solidFill>
                <a:latin typeface="Segoe UI Semibold"/>
              </a:rPr>
              <a:t>Ship</a:t>
            </a:r>
          </a:p>
        </p:txBody>
      </p:sp>
      <p:sp>
        <p:nvSpPr>
          <p:cNvPr id="3" name="TextBox 2"/>
          <p:cNvSpPr txBox="1"/>
          <p:nvPr/>
        </p:nvSpPr>
        <p:spPr>
          <a:xfrm>
            <a:off x="584200" y="4240850"/>
            <a:ext cx="11018838" cy="600000"/>
          </a:xfrm>
          <a:prstGeom prst="rect">
            <a:avLst/>
          </a:prstGeom>
          <a:noFill/>
        </p:spPr>
        <p:txBody>
          <a:bodyPr wrap="square">
            <a:spAutoFit/>
          </a:bodyPr>
          <a:lstStyle/>
          <a:p>
            <a:pPr algn="l"/>
            <a:r>
              <a:rPr sz="2200" b="0">
                <a:solidFill>
                  <a:srgbClr val="555555"/>
                </a:solidFill>
                <a:latin typeface="Segoe UI"/>
              </a:rPr>
              <a:t>Gates that enforce release evidence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CI/CD gates for agentic AI</a:t>
            </a:r>
          </a:p>
        </p:txBody>
      </p:sp>
      <p:sp>
        <p:nvSpPr>
          <p:cNvPr id="3" name="TextBox 2"/>
          <p:cNvSpPr txBox="1"/>
          <p:nvPr/>
        </p:nvSpPr>
        <p:spPr>
          <a:xfrm>
            <a:off x="584200" y="1200000"/>
            <a:ext cx="11018838" cy="350000"/>
          </a:xfrm>
          <a:prstGeom prst="rect">
            <a:avLst/>
          </a:prstGeom>
          <a:noFill/>
        </p:spPr>
        <p:txBody>
          <a:bodyPr wrap="square">
            <a:spAutoFit/>
          </a:bodyPr>
          <a:lstStyle/>
          <a:p>
            <a:r>
              <a:rPr sz="1800" b="0">
                <a:solidFill>
                  <a:srgbClr val="555555"/>
                </a:solidFill>
                <a:latin typeface="Segoe UI"/>
              </a:rPr>
              <a:t>The strongest moment in AgentOps is a failed gate - the pipeline stops before users feel the regression</a:t>
            </a:r>
          </a:p>
        </p:txBody>
      </p:sp>
      <p:sp>
        <p:nvSpPr>
          <p:cNvPr id="4" name="TextBox 3"/>
          <p:cNvSpPr txBox="1"/>
          <p:nvPr/>
        </p:nvSpPr>
        <p:spPr>
          <a:xfrm>
            <a:off x="584200" y="2095500"/>
            <a:ext cx="11018838" cy="4833938"/>
          </a:xfrm>
          <a:prstGeom prst="rect">
            <a:avLst/>
          </a:prstGeom>
          <a:noFill/>
        </p:spPr>
        <p:txBody>
          <a:bodyPr wrap="square">
            <a:spAutoFit/>
          </a:bodyPr>
          <a:lstStyle/>
          <a:p>
            <a:pPr>
              <a:spcAft>
                <a:spcPts val="400"/>
              </a:spcAft>
            </a:pPr>
            <a:r>
              <a:rPr sz="1600">
                <a:solidFill>
                  <a:srgbClr val="091F2C"/>
                </a:solidFill>
                <a:latin typeface="Segoe UI"/>
              </a:rPr>
              <a:t>• </a:t>
            </a:r>
            <a:r>
              <a:rPr sz="1600" b="1">
                <a:solidFill>
                  <a:srgbClr val="091F2C"/>
                </a:solidFill>
                <a:latin typeface="Segoe UI"/>
              </a:rPr>
              <a:t>PR gate:</a:t>
            </a:r>
            <a:r>
              <a:rPr sz="1600" b="0">
                <a:solidFill>
                  <a:srgbClr val="091F2C"/>
                </a:solidFill>
                <a:latin typeface="Segoe UI"/>
              </a:rPr>
              <a:t> blocks bad prompts before merge.</a:t>
            </a:r>
          </a:p>
          <a:p>
            <a:pPr>
              <a:spcAft>
                <a:spcPts val="400"/>
              </a:spcAft>
            </a:pPr>
            <a:r>
              <a:rPr sz="1600">
                <a:solidFill>
                  <a:srgbClr val="091F2C"/>
                </a:solidFill>
                <a:latin typeface="Segoe UI"/>
              </a:rPr>
              <a:t>• </a:t>
            </a:r>
            <a:r>
              <a:rPr sz="1600" b="1">
                <a:solidFill>
                  <a:srgbClr val="091F2C"/>
                </a:solidFill>
                <a:latin typeface="Segoe UI"/>
              </a:rPr>
              <a:t>Deploy gate:</a:t>
            </a:r>
            <a:r>
              <a:rPr sz="1600" b="0">
                <a:solidFill>
                  <a:srgbClr val="091F2C"/>
                </a:solidFill>
                <a:latin typeface="Segoe UI"/>
              </a:rPr>
              <a:t> blocks bad versions before the next environment.</a:t>
            </a:r>
          </a:p>
          <a:p>
            <a:pPr>
              <a:spcAft>
                <a:spcPts val="400"/>
              </a:spcAft>
            </a:pPr>
            <a:r>
              <a:rPr sz="1600">
                <a:solidFill>
                  <a:srgbClr val="091F2C"/>
                </a:solidFill>
                <a:latin typeface="Segoe UI"/>
              </a:rPr>
              <a:t>• </a:t>
            </a:r>
            <a:r>
              <a:rPr sz="1600" b="1">
                <a:solidFill>
                  <a:srgbClr val="091F2C"/>
                </a:solidFill>
                <a:latin typeface="Segoe UI"/>
              </a:rPr>
              <a:t>Promotion:</a:t>
            </a:r>
            <a:r>
              <a:rPr sz="1600" b="0">
                <a:solidFill>
                  <a:srgbClr val="091F2C"/>
                </a:solidFill>
                <a:latin typeface="Segoe UI"/>
              </a:rPr>
              <a:t> sandbox -&gt; dev -&gt; qa -&gt; prod, checks stricter per environment; evidence is locked at qa; prod runs smoke tests plus blue-green / canary.</a:t>
            </a:r>
          </a:p>
          <a:p>
            <a:pPr>
              <a:spcAft>
                <a:spcPts val="400"/>
              </a:spcAft>
            </a:pPr>
            <a:r>
              <a:rPr sz="1600">
                <a:solidFill>
                  <a:srgbClr val="091F2C"/>
                </a:solidFill>
                <a:latin typeface="Segoe UI"/>
              </a:rPr>
              <a:t>• </a:t>
            </a:r>
            <a:r>
              <a:rPr sz="1600" b="0">
                <a:solidFill>
                  <a:srgbClr val="091F2C"/>
                </a:solidFill>
                <a:latin typeface="Segoe UI"/>
              </a:rPr>
              <a:t>Every gate produces an artefact: eval report, readiness report, release evidence.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Release evidence is the reviewable record</a:t>
            </a:r>
          </a:p>
        </p:txBody>
      </p:sp>
      <p:pic>
        <p:nvPicPr>
          <p:cNvPr id="3" name="Release-evidence package: eight evidence sections composing into one package reviewed at the gated approval" descr="Release-evidence package: eight evidence sections composing into one package reviewed at the gated approval"/>
          <p:cNvPicPr>
            <a:picLocks noChangeAspect="1"/>
          </p:cNvPicPr>
          <p:nvPr/>
        </p:nvPicPr>
        <p:blipFill>
          <a:blip r:embed="rId3"/>
          <a:stretch>
            <a:fillRect/>
          </a:stretch>
        </p:blipFill>
        <p:spPr>
          <a:xfrm>
            <a:off x="8260080" y="1828800"/>
            <a:ext cx="3657600" cy="177372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3079000"/>
            <a:ext cx="11018838" cy="700000"/>
          </a:xfrm>
          <a:prstGeom prst="rect">
            <a:avLst/>
          </a:prstGeom>
          <a:noFill/>
        </p:spPr>
        <p:txBody>
          <a:bodyPr wrap="square">
            <a:spAutoFit/>
          </a:bodyPr>
          <a:lstStyle/>
          <a:p>
            <a:pPr algn="l"/>
            <a:r>
              <a:rPr sz="3600" b="0">
                <a:solidFill>
                  <a:srgbClr val="091F2C"/>
                </a:solidFill>
                <a:latin typeface="Segoe UI Semibold"/>
              </a:rPr>
              <a:t>Lab 3: Release Gates and Evidence</a:t>
            </a:r>
          </a:p>
        </p:txBody>
      </p:sp>
      <p:sp>
        <p:nvSpPr>
          <p:cNvPr id="3" name="TextBox 2"/>
          <p:cNvSpPr txBox="1"/>
          <p:nvPr/>
        </p:nvSpPr>
        <p:spPr>
          <a:xfrm>
            <a:off x="584200" y="4240850"/>
            <a:ext cx="11018838" cy="600000"/>
          </a:xfrm>
          <a:prstGeom prst="rect">
            <a:avLst/>
          </a:prstGeom>
          <a:noFill/>
        </p:spPr>
        <p:txBody>
          <a:bodyPr wrap="square">
            <a:spAutoFit/>
          </a:bodyPr>
          <a:lstStyle/>
          <a:p>
            <a:pPr algn="l"/>
            <a:r>
              <a:rPr sz="2200" b="0">
                <a:solidFill>
                  <a:srgbClr val="555555"/>
                </a:solidFill>
                <a:latin typeface="Segoe UI"/>
              </a:rPr>
              <a:t>60 min - CI/CD gate plan + readiness evidence package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3079000"/>
            <a:ext cx="11018838" cy="700000"/>
          </a:xfrm>
          <a:prstGeom prst="rect">
            <a:avLst/>
          </a:prstGeom>
          <a:noFill/>
        </p:spPr>
        <p:txBody>
          <a:bodyPr wrap="square">
            <a:spAutoFit/>
          </a:bodyPr>
          <a:lstStyle/>
          <a:p>
            <a:pPr algn="l"/>
            <a:r>
              <a:rPr sz="3600" b="0">
                <a:solidFill>
                  <a:srgbClr val="091F2C"/>
                </a:solidFill>
                <a:latin typeface="Segoe UI Semibold"/>
              </a:rPr>
              <a:t>Observe</a:t>
            </a:r>
          </a:p>
        </p:txBody>
      </p:sp>
      <p:sp>
        <p:nvSpPr>
          <p:cNvPr id="3" name="TextBox 2"/>
          <p:cNvSpPr txBox="1"/>
          <p:nvPr/>
        </p:nvSpPr>
        <p:spPr>
          <a:xfrm>
            <a:off x="584200" y="4240850"/>
            <a:ext cx="11018838" cy="600000"/>
          </a:xfrm>
          <a:prstGeom prst="rect">
            <a:avLst/>
          </a:prstGeom>
          <a:noFill/>
        </p:spPr>
        <p:txBody>
          <a:bodyPr wrap="square">
            <a:spAutoFit/>
          </a:bodyPr>
          <a:lstStyle/>
          <a:p>
            <a:pPr algn="l"/>
            <a:r>
              <a:rPr sz="2200" b="0">
                <a:solidFill>
                  <a:srgbClr val="555555"/>
                </a:solidFill>
                <a:latin typeface="Segoe UI"/>
              </a:rPr>
              <a:t>Traces, correlation, and the closed loop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Observability for agents is more than monitoring</a:t>
            </a:r>
          </a:p>
        </p:txBody>
      </p:sp>
      <p:sp>
        <p:nvSpPr>
          <p:cNvPr id="3" name="TextBox 2"/>
          <p:cNvSpPr txBox="1"/>
          <p:nvPr/>
        </p:nvSpPr>
        <p:spPr>
          <a:xfrm>
            <a:off x="584200" y="1200000"/>
            <a:ext cx="11018838" cy="350000"/>
          </a:xfrm>
          <a:prstGeom prst="rect">
            <a:avLst/>
          </a:prstGeom>
          <a:noFill/>
        </p:spPr>
        <p:txBody>
          <a:bodyPr wrap="square">
            <a:spAutoFit/>
          </a:bodyPr>
          <a:lstStyle/>
          <a:p>
            <a:r>
              <a:rPr sz="1800" b="0">
                <a:solidFill>
                  <a:srgbClr val="555555"/>
                </a:solidFill>
                <a:latin typeface="Segoe UI"/>
              </a:rPr>
              <a:t>Infrastructure monitoring asks "is the service healthy?" Agent observability asks "what did it do and why?"</a:t>
            </a:r>
          </a:p>
        </p:txBody>
      </p:sp>
      <p:sp>
        <p:nvSpPr>
          <p:cNvPr id="4" name="TextBox 3"/>
          <p:cNvSpPr txBox="1"/>
          <p:nvPr/>
        </p:nvSpPr>
        <p:spPr>
          <a:xfrm>
            <a:off x="584200" y="2095500"/>
            <a:ext cx="11018838" cy="4833938"/>
          </a:xfrm>
          <a:prstGeom prst="rect">
            <a:avLst/>
          </a:prstGeom>
          <a:noFill/>
        </p:spPr>
        <p:txBody>
          <a:bodyPr wrap="square">
            <a:spAutoFit/>
          </a:bodyPr>
          <a:lstStyle/>
          <a:p>
            <a:pPr>
              <a:spcAft>
                <a:spcPts val="400"/>
              </a:spcAft>
            </a:pPr>
            <a:r>
              <a:rPr sz="1600">
                <a:solidFill>
                  <a:srgbClr val="091F2C"/>
                </a:solidFill>
                <a:latin typeface="Segoe UI"/>
              </a:rPr>
              <a:t>• </a:t>
            </a:r>
            <a:r>
              <a:rPr sz="1600" b="0">
                <a:solidFill>
                  <a:srgbClr val="091F2C"/>
                </a:solidFill>
                <a:latin typeface="Segoe UI"/>
              </a:rPr>
              <a:t>The unit of understanding is the </a:t>
            </a:r>
            <a:r>
              <a:rPr sz="1600" b="1">
                <a:solidFill>
                  <a:srgbClr val="091F2C"/>
                </a:solidFill>
                <a:latin typeface="Segoe UI"/>
              </a:rPr>
              <a:t>trace</a:t>
            </a:r>
            <a:r>
              <a:rPr sz="1600" b="0">
                <a:solidFill>
                  <a:srgbClr val="091F2C"/>
                </a:solidFill>
                <a:latin typeface="Segoe UI"/>
              </a:rPr>
              <a:t> - the chain of decisions.</a:t>
            </a:r>
          </a:p>
          <a:p>
            <a:pPr>
              <a:spcAft>
                <a:spcPts val="400"/>
              </a:spcAft>
            </a:pPr>
            <a:r>
              <a:rPr sz="1600">
                <a:solidFill>
                  <a:srgbClr val="091F2C"/>
                </a:solidFill>
                <a:latin typeface="Segoe UI"/>
              </a:rPr>
              <a:t>• </a:t>
            </a:r>
            <a:r>
              <a:rPr sz="1600" b="0">
                <a:solidFill>
                  <a:srgbClr val="091F2C"/>
                </a:solidFill>
                <a:latin typeface="Segoe UI"/>
              </a:rPr>
              <a:t>Required signals: prompt, plan, model call, retrieval, tool call, safety event, latency, cost, feedback, release version.</a:t>
            </a:r>
          </a:p>
          <a:p>
            <a:pPr>
              <a:spcAft>
                <a:spcPts val="400"/>
              </a:spcAft>
            </a:pPr>
            <a:r>
              <a:rPr sz="1600">
                <a:solidFill>
                  <a:srgbClr val="091F2C"/>
                </a:solidFill>
                <a:latin typeface="Segoe UI"/>
              </a:rPr>
              <a:t>• </a:t>
            </a:r>
            <a:r>
              <a:rPr sz="1600" b="0">
                <a:solidFill>
                  <a:srgbClr val="091F2C"/>
                </a:solidFill>
                <a:latin typeface="Segoe UI"/>
              </a:rPr>
              <a:t>Without </a:t>
            </a:r>
            <a:r>
              <a:rPr sz="1600" b="1">
                <a:solidFill>
                  <a:srgbClr val="091F2C"/>
                </a:solidFill>
                <a:latin typeface="Segoe UI"/>
              </a:rPr>
              <a:t>correlation</a:t>
            </a:r>
            <a:r>
              <a:rPr sz="1600" b="0">
                <a:solidFill>
                  <a:srgbClr val="091F2C"/>
                </a:solidFill>
                <a:latin typeface="Segoe UI"/>
              </a:rPr>
              <a:t>, observability is just disconnected dashboards.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Correlation is the whole game</a:t>
            </a:r>
          </a:p>
        </p:txBody>
      </p:sp>
      <p:pic>
        <p:nvPicPr>
          <p:cNvPr id="3" name="Observability correlation model: trace spans on the left, correlation keys on the right, every span carrying every key" descr="Observability correlation model: trace spans on the left, correlation keys on the right, every span carrying every key"/>
          <p:cNvPicPr>
            <a:picLocks noChangeAspect="1"/>
          </p:cNvPicPr>
          <p:nvPr/>
        </p:nvPicPr>
        <p:blipFill>
          <a:blip r:embed="rId3"/>
          <a:stretch>
            <a:fillRect/>
          </a:stretch>
        </p:blipFill>
        <p:spPr>
          <a:xfrm>
            <a:off x="8260080" y="1828800"/>
            <a:ext cx="3657600" cy="177372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From telemetry to action</a:t>
            </a:r>
          </a:p>
        </p:txBody>
      </p:sp>
      <p:sp>
        <p:nvSpPr>
          <p:cNvPr id="3" name="TextBox 2"/>
          <p:cNvSpPr txBox="1"/>
          <p:nvPr/>
        </p:nvSpPr>
        <p:spPr>
          <a:xfrm>
            <a:off x="584200" y="1200000"/>
            <a:ext cx="11018838" cy="350000"/>
          </a:xfrm>
          <a:prstGeom prst="rect">
            <a:avLst/>
          </a:prstGeom>
          <a:noFill/>
        </p:spPr>
        <p:txBody>
          <a:bodyPr wrap="square">
            <a:spAutoFit/>
          </a:bodyPr>
          <a:lstStyle/>
          <a:p>
            <a:r>
              <a:rPr sz="1800" b="0">
                <a:solidFill>
                  <a:srgbClr val="555555"/>
                </a:solidFill>
                <a:latin typeface="Segoe UI"/>
              </a:rPr>
              <a:t>The end state is not a dashboard - it is action: observe, diagnose, improve, ship the next version with evidence</a:t>
            </a:r>
          </a:p>
        </p:txBody>
      </p:sp>
      <p:graphicFrame>
        <p:nvGraphicFramePr>
          <p:cNvPr id="4" name="Table 3"/>
          <p:cNvGraphicFramePr>
            <a:graphicFrameLocks noGrp="1"/>
          </p:cNvGraphicFramePr>
          <p:nvPr/>
        </p:nvGraphicFramePr>
        <p:xfrm>
          <a:off x="584200" y="2095500"/>
          <a:ext cx="11018838" cy="2590000"/>
        </p:xfrm>
        <a:graphic>
          <a:graphicData uri="http://schemas.openxmlformats.org/drawingml/2006/table">
            <a:tbl>
              <a:tblPr firstRow="0" bandRow="0" bandCol="0" lastRow="0" firstCol="0" lastCol="0">
                <a:tableStyleId>{5C22544A-7EE6-4342-B048-85BDC9FD1C3A}</a:tableStyleId>
                <a:tblStyleId>{5940675A-B579-460E-94D1-54222C63F5DA}</a:tblStyleId>
              </a:tblPr>
              <a:tblGrid>
                <a:gridCol w="5509419"/>
                <a:gridCol w="5509419"/>
              </a:tblGrid>
              <a:tr h="370000">
                <a:tc>
                  <a:txBody>
                    <a:bodyPr/>
                    <a:lstStyle/>
                    <a:p>
                      <a:r>
                        <a:rPr sz="1200" b="1">
                          <a:solidFill>
                            <a:srgbClr val="FFFFFF"/>
                          </a:solidFill>
                          <a:latin typeface="Segoe UI"/>
                        </a:rPr>
                        <a:t>Signal</a:t>
                      </a:r>
                    </a:p>
                  </a:txBody>
                  <a:tcPr>
                    <a:solidFill>
                      <a:srgbClr val="0078D4"/>
                    </a:solidFill>
                  </a:tcPr>
                </a:tc>
                <a:tc>
                  <a:txBody>
                    <a:bodyPr/>
                    <a:lstStyle/>
                    <a:p>
                      <a:r>
                        <a:rPr sz="1200" b="1">
                          <a:solidFill>
                            <a:srgbClr val="FFFFFF"/>
                          </a:solidFill>
                          <a:latin typeface="Segoe UI"/>
                        </a:rPr>
                        <a:t>Action</a:t>
                      </a:r>
                    </a:p>
                  </a:txBody>
                  <a:tcPr>
                    <a:solidFill>
                      <a:srgbClr val="0078D4"/>
                    </a:solidFill>
                  </a:tcPr>
                </a:tc>
              </a:tr>
              <a:tr h="370000">
                <a:tc>
                  <a:txBody>
                    <a:bodyPr/>
                    <a:lstStyle/>
                    <a:p>
                      <a:r>
                        <a:rPr sz="1200" b="0">
                          <a:solidFill>
                            <a:srgbClr val="091F2C"/>
                          </a:solidFill>
                          <a:latin typeface="Segoe UI"/>
                        </a:rPr>
                        <a:t>Latency spike</a:t>
                      </a:r>
                    </a:p>
                  </a:txBody>
                  <a:tcPr>
                    <a:solidFill>
                      <a:srgbClr val="FFFFFF"/>
                    </a:solidFill>
                  </a:tcPr>
                </a:tc>
                <a:tc>
                  <a:txBody>
                    <a:bodyPr/>
                    <a:lstStyle/>
                    <a:p>
                      <a:r>
                        <a:rPr sz="1200" b="0">
                          <a:solidFill>
                            <a:srgbClr val="091F2C"/>
                          </a:solidFill>
                          <a:latin typeface="Segoe UI"/>
                        </a:rPr>
                        <a:t>Azure Monitor alert -&gt; on-call</a:t>
                      </a:r>
                    </a:p>
                  </a:txBody>
                  <a:tcPr>
                    <a:solidFill>
                      <a:srgbClr val="FFFFFF"/>
                    </a:solidFill>
                  </a:tcPr>
                </a:tc>
              </a:tr>
              <a:tr h="370000">
                <a:tc>
                  <a:txBody>
                    <a:bodyPr/>
                    <a:lstStyle/>
                    <a:p>
                      <a:r>
                        <a:rPr sz="1200" b="0">
                          <a:solidFill>
                            <a:srgbClr val="091F2C"/>
                          </a:solidFill>
                          <a:latin typeface="Segoe UI"/>
                        </a:rPr>
                        <a:t>Tool error rate</a:t>
                      </a:r>
                    </a:p>
                  </a:txBody>
                  <a:tcPr>
                    <a:solidFill>
                      <a:srgbClr val="FFFFFF"/>
                    </a:solidFill>
                  </a:tcPr>
                </a:tc>
                <a:tc>
                  <a:txBody>
                    <a:bodyPr/>
                    <a:lstStyle/>
                    <a:p>
                      <a:r>
                        <a:rPr sz="1200" b="0">
                          <a:solidFill>
                            <a:srgbClr val="091F2C"/>
                          </a:solidFill>
                          <a:latin typeface="Segoe UI"/>
                        </a:rPr>
                        <a:t>disable tool, fall back to manual</a:t>
                      </a:r>
                    </a:p>
                  </a:txBody>
                  <a:tcPr>
                    <a:solidFill>
                      <a:srgbClr val="FFFFFF"/>
                    </a:solidFill>
                  </a:tcPr>
                </a:tc>
              </a:tr>
              <a:tr h="370000">
                <a:tc>
                  <a:txBody>
                    <a:bodyPr/>
                    <a:lstStyle/>
                    <a:p>
                      <a:r>
                        <a:rPr sz="1200" b="0">
                          <a:solidFill>
                            <a:srgbClr val="091F2C"/>
                          </a:solidFill>
                          <a:latin typeface="Segoe UI"/>
                        </a:rPr>
                        <a:t>Safety violation</a:t>
                      </a:r>
                    </a:p>
                  </a:txBody>
                  <a:tcPr>
                    <a:solidFill>
                      <a:srgbClr val="FFFFFF"/>
                    </a:solidFill>
                  </a:tcPr>
                </a:tc>
                <a:tc>
                  <a:txBody>
                    <a:bodyPr/>
                    <a:lstStyle/>
                    <a:p>
                      <a:r>
                        <a:rPr sz="1200" b="0">
                          <a:solidFill>
                            <a:srgbClr val="091F2C"/>
                          </a:solidFill>
                          <a:latin typeface="Segoe UI"/>
                        </a:rPr>
                        <a:t>block plus content safety incident</a:t>
                      </a:r>
                    </a:p>
                  </a:txBody>
                  <a:tcPr>
                    <a:solidFill>
                      <a:srgbClr val="FFFFFF"/>
                    </a:solidFill>
                  </a:tcPr>
                </a:tc>
              </a:tr>
              <a:tr h="370000">
                <a:tc>
                  <a:txBody>
                    <a:bodyPr/>
                    <a:lstStyle/>
                    <a:p>
                      <a:r>
                        <a:rPr sz="1200" b="0">
                          <a:solidFill>
                            <a:srgbClr val="091F2C"/>
                          </a:solidFill>
                          <a:latin typeface="Segoe UI"/>
                        </a:rPr>
                        <a:t>Eval score drop</a:t>
                      </a:r>
                    </a:p>
                  </a:txBody>
                  <a:tcPr>
                    <a:solidFill>
                      <a:srgbClr val="FFFFFF"/>
                    </a:solidFill>
                  </a:tcPr>
                </a:tc>
                <a:tc>
                  <a:txBody>
                    <a:bodyPr/>
                    <a:lstStyle/>
                    <a:p>
                      <a:r>
                        <a:rPr sz="1200" b="0">
                          <a:solidFill>
                            <a:srgbClr val="091F2C"/>
                          </a:solidFill>
                          <a:latin typeface="Segoe UI"/>
                        </a:rPr>
                        <a:t>pause canary, open ticket</a:t>
                      </a:r>
                    </a:p>
                  </a:txBody>
                  <a:tcPr>
                    <a:solidFill>
                      <a:srgbClr val="FFFFFF"/>
                    </a:solidFill>
                  </a:tcPr>
                </a:tc>
              </a:tr>
              <a:tr h="370000">
                <a:tc>
                  <a:txBody>
                    <a:bodyPr/>
                    <a:lstStyle/>
                    <a:p>
                      <a:r>
                        <a:rPr sz="1200" b="0">
                          <a:solidFill>
                            <a:srgbClr val="091F2C"/>
                          </a:solidFill>
                          <a:latin typeface="Segoe UI"/>
                        </a:rPr>
                        <a:t>Cost anomaly</a:t>
                      </a:r>
                    </a:p>
                  </a:txBody>
                  <a:tcPr>
                    <a:solidFill>
                      <a:srgbClr val="FFFFFF"/>
                    </a:solidFill>
                  </a:tcPr>
                </a:tc>
                <a:tc>
                  <a:txBody>
                    <a:bodyPr/>
                    <a:lstStyle/>
                    <a:p>
                      <a:r>
                        <a:rPr sz="1200" b="0">
                          <a:solidFill>
                            <a:srgbClr val="091F2C"/>
                          </a:solidFill>
                          <a:latin typeface="Segoe UI"/>
                        </a:rPr>
                        <a:t>throttle via gateway, notify FinOps</a:t>
                      </a:r>
                    </a:p>
                  </a:txBody>
                  <a:tcPr>
                    <a:solidFill>
                      <a:srgbClr val="FFFFFF"/>
                    </a:solidFill>
                  </a:tcPr>
                </a:tc>
              </a:tr>
              <a:tr h="370000">
                <a:tc>
                  <a:txBody>
                    <a:bodyPr/>
                    <a:lstStyle/>
                    <a:p>
                      <a:r>
                        <a:rPr sz="1200" b="0">
                          <a:solidFill>
                            <a:srgbClr val="091F2C"/>
                          </a:solidFill>
                          <a:latin typeface="Segoe UI"/>
                        </a:rPr>
                        <a:t>Positive feedback</a:t>
                      </a:r>
                    </a:p>
                  </a:txBody>
                  <a:tcPr>
                    <a:solidFill>
                      <a:srgbClr val="FFFFFF"/>
                    </a:solidFill>
                  </a:tcPr>
                </a:tc>
                <a:tc>
                  <a:txBody>
                    <a:bodyPr/>
                    <a:lstStyle/>
                    <a:p>
                      <a:r>
                        <a:rPr sz="1200" b="0">
                          <a:solidFill>
                            <a:srgbClr val="091F2C"/>
                          </a:solidFill>
                          <a:latin typeface="Segoe UI"/>
                        </a:rPr>
                        <a:t>sample into eval dataset</a:t>
                      </a:r>
                    </a:p>
                  </a:txBody>
                  <a:tcP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3079000"/>
            <a:ext cx="11018838" cy="700000"/>
          </a:xfrm>
          <a:prstGeom prst="rect">
            <a:avLst/>
          </a:prstGeom>
          <a:noFill/>
        </p:spPr>
        <p:txBody>
          <a:bodyPr wrap="square">
            <a:spAutoFit/>
          </a:bodyPr>
          <a:lstStyle/>
          <a:p>
            <a:pPr algn="l"/>
            <a:r>
              <a:rPr sz="3600" b="0">
                <a:solidFill>
                  <a:srgbClr val="091F2C"/>
                </a:solidFill>
                <a:latin typeface="Segoe UI Semibold"/>
              </a:rPr>
              <a:t>Lab 4: Observability and Trace-Driven Operations</a:t>
            </a:r>
          </a:p>
        </p:txBody>
      </p:sp>
      <p:sp>
        <p:nvSpPr>
          <p:cNvPr id="3" name="TextBox 2"/>
          <p:cNvSpPr txBox="1"/>
          <p:nvPr/>
        </p:nvSpPr>
        <p:spPr>
          <a:xfrm>
            <a:off x="584200" y="4240850"/>
            <a:ext cx="11018838" cy="600000"/>
          </a:xfrm>
          <a:prstGeom prst="rect">
            <a:avLst/>
          </a:prstGeom>
          <a:noFill/>
        </p:spPr>
        <p:txBody>
          <a:bodyPr wrap="square">
            <a:spAutoFit/>
          </a:bodyPr>
          <a:lstStyle/>
          <a:p>
            <a:pPr algn="l"/>
            <a:r>
              <a:rPr sz="2200" b="0">
                <a:solidFill>
                  <a:srgbClr val="555555"/>
                </a:solidFill>
                <a:latin typeface="Segoe UI"/>
              </a:rPr>
              <a:t>90 min (deepest) - correlation model + dashboard and alert plan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3079000"/>
            <a:ext cx="11018838" cy="700000"/>
          </a:xfrm>
          <a:prstGeom prst="rect">
            <a:avLst/>
          </a:prstGeom>
          <a:noFill/>
        </p:spPr>
        <p:txBody>
          <a:bodyPr wrap="square">
            <a:spAutoFit/>
          </a:bodyPr>
          <a:lstStyle/>
          <a:p>
            <a:pPr algn="l"/>
            <a:r>
              <a:rPr sz="3600" b="0">
                <a:solidFill>
                  <a:srgbClr val="091F2C"/>
                </a:solidFill>
                <a:latin typeface="Segoe UI Semibold"/>
              </a:rPr>
              <a:t>Operate</a:t>
            </a:r>
          </a:p>
        </p:txBody>
      </p:sp>
      <p:sp>
        <p:nvSpPr>
          <p:cNvPr id="3" name="TextBox 2"/>
          <p:cNvSpPr txBox="1"/>
          <p:nvPr/>
        </p:nvSpPr>
        <p:spPr>
          <a:xfrm>
            <a:off x="584200" y="4240850"/>
            <a:ext cx="11018838" cy="600000"/>
          </a:xfrm>
          <a:prstGeom prst="rect">
            <a:avLst/>
          </a:prstGeom>
          <a:noFill/>
        </p:spPr>
        <p:txBody>
          <a:bodyPr wrap="square">
            <a:spAutoFit/>
          </a:bodyPr>
          <a:lstStyle/>
          <a:p>
            <a:pPr algn="l"/>
            <a:r>
              <a:rPr sz="2200" b="0">
                <a:solidFill>
                  <a:srgbClr val="555555"/>
                </a:solidFill>
                <a:latin typeface="Segoe UI"/>
              </a:rPr>
              <a:t>Running agents in production safely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Safety is a different signal from quality</a:t>
            </a:r>
          </a:p>
        </p:txBody>
      </p:sp>
      <p:sp>
        <p:nvSpPr>
          <p:cNvPr id="3" name="TextBox 2"/>
          <p:cNvSpPr txBox="1"/>
          <p:nvPr/>
        </p:nvSpPr>
        <p:spPr>
          <a:xfrm>
            <a:off x="584200" y="1200000"/>
            <a:ext cx="11018838" cy="350000"/>
          </a:xfrm>
          <a:prstGeom prst="rect">
            <a:avLst/>
          </a:prstGeom>
          <a:noFill/>
        </p:spPr>
        <p:txBody>
          <a:bodyPr wrap="square">
            <a:spAutoFit/>
          </a:bodyPr>
          <a:lstStyle/>
          <a:p>
            <a:r>
              <a:rPr sz="1800" b="0">
                <a:solidFill>
                  <a:srgbClr val="555555"/>
                </a:solidFill>
                <a:latin typeface="Segoe UI"/>
              </a:rPr>
              <a:t>Quality asks "is the answer good?" Red teaming asks "can someone make it misbehave?" Both are required</a:t>
            </a:r>
          </a:p>
        </p:txBody>
      </p:sp>
      <p:sp>
        <p:nvSpPr>
          <p:cNvPr id="4" name="TextBox 3"/>
          <p:cNvSpPr txBox="1"/>
          <p:nvPr/>
        </p:nvSpPr>
        <p:spPr>
          <a:xfrm>
            <a:off x="584200" y="2095500"/>
            <a:ext cx="11018838" cy="4833938"/>
          </a:xfrm>
          <a:prstGeom prst="rect">
            <a:avLst/>
          </a:prstGeom>
          <a:noFill/>
        </p:spPr>
        <p:txBody>
          <a:bodyPr wrap="square">
            <a:spAutoFit/>
          </a:bodyPr>
          <a:lstStyle/>
          <a:p>
            <a:pPr>
              <a:spcAft>
                <a:spcPts val="400"/>
              </a:spcAft>
            </a:pPr>
            <a:r>
              <a:rPr sz="1600">
                <a:solidFill>
                  <a:srgbClr val="091F2C"/>
                </a:solidFill>
                <a:latin typeface="Segoe UI"/>
              </a:rPr>
              <a:t>• </a:t>
            </a:r>
            <a:r>
              <a:rPr sz="1600" b="0">
                <a:solidFill>
                  <a:srgbClr val="091F2C"/>
                </a:solidFill>
                <a:latin typeface="Segoe UI"/>
              </a:rPr>
              <a:t>Four risk categories: </a:t>
            </a:r>
            <a:r>
              <a:rPr sz="1600" b="1">
                <a:solidFill>
                  <a:srgbClr val="091F2C"/>
                </a:solidFill>
                <a:latin typeface="Segoe UI"/>
              </a:rPr>
              <a:t>harmful content</a:t>
            </a:r>
            <a:r>
              <a:rPr sz="1600" b="0">
                <a:solidFill>
                  <a:srgbClr val="091F2C"/>
                </a:solidFill>
                <a:latin typeface="Segoe UI"/>
              </a:rPr>
              <a:t>, </a:t>
            </a:r>
            <a:r>
              <a:rPr sz="1600" b="1">
                <a:solidFill>
                  <a:srgbClr val="091F2C"/>
                </a:solidFill>
                <a:latin typeface="Segoe UI"/>
              </a:rPr>
              <a:t>jailbreak / prompt injection</a:t>
            </a:r>
            <a:r>
              <a:rPr sz="1600" b="0">
                <a:solidFill>
                  <a:srgbClr val="091F2C"/>
                </a:solidFill>
                <a:latin typeface="Segoe UI"/>
              </a:rPr>
              <a:t>, </a:t>
            </a:r>
            <a:r>
              <a:rPr sz="1600" b="1">
                <a:solidFill>
                  <a:srgbClr val="091F2C"/>
                </a:solidFill>
                <a:latin typeface="Segoe UI"/>
              </a:rPr>
              <a:t>hallucination</a:t>
            </a:r>
            <a:r>
              <a:rPr sz="1600" b="0">
                <a:solidFill>
                  <a:srgbClr val="091F2C"/>
                </a:solidFill>
                <a:latin typeface="Segoe UI"/>
              </a:rPr>
              <a:t>, </a:t>
            </a:r>
            <a:r>
              <a:rPr sz="1600" b="1">
                <a:solidFill>
                  <a:srgbClr val="091F2C"/>
                </a:solidFill>
                <a:latin typeface="Segoe UI"/>
              </a:rPr>
              <a:t>data exfiltration</a:t>
            </a:r>
            <a:r>
              <a:rPr sz="1600" b="0">
                <a:solidFill>
                  <a:srgbClr val="091F2C"/>
                </a:solidFill>
                <a:latin typeface="Segoe UI"/>
              </a:rPr>
              <a:t>.</a:t>
            </a:r>
          </a:p>
          <a:p>
            <a:pPr>
              <a:spcAft>
                <a:spcPts val="400"/>
              </a:spcAft>
            </a:pPr>
            <a:r>
              <a:rPr sz="1600">
                <a:solidFill>
                  <a:srgbClr val="091F2C"/>
                </a:solidFill>
                <a:latin typeface="Segoe UI"/>
              </a:rPr>
              <a:t>• </a:t>
            </a:r>
            <a:r>
              <a:rPr sz="1600" b="0">
                <a:solidFill>
                  <a:srgbClr val="091F2C"/>
                </a:solidFill>
                <a:latin typeface="Segoe UI"/>
              </a:rPr>
              <a:t>Foundry's AI Red Teaming agent (PyRIT) automates adversarial probes.</a:t>
            </a:r>
          </a:p>
          <a:p>
            <a:pPr>
              <a:spcAft>
                <a:spcPts val="400"/>
              </a:spcAft>
            </a:pPr>
            <a:r>
              <a:rPr sz="1600">
                <a:solidFill>
                  <a:srgbClr val="091F2C"/>
                </a:solidFill>
                <a:latin typeface="Segoe UI"/>
              </a:rPr>
              <a:t>• </a:t>
            </a:r>
            <a:r>
              <a:rPr sz="1600" b="0">
                <a:solidFill>
                  <a:srgbClr val="091F2C"/>
                </a:solidFill>
                <a:latin typeface="Segoe UI"/>
              </a:rPr>
              <a:t>Cadence: pre-release gate, scheduled scans, post-incident.</a:t>
            </a:r>
          </a:p>
          <a:p>
            <a:pPr>
              <a:spcAft>
                <a:spcPts val="400"/>
              </a:spcAft>
            </a:pPr>
            <a:r>
              <a:rPr sz="1600">
                <a:solidFill>
                  <a:srgbClr val="091F2C"/>
                </a:solidFill>
                <a:latin typeface="Segoe UI"/>
              </a:rPr>
              <a:t>• </a:t>
            </a:r>
            <a:r>
              <a:rPr sz="1600" b="0">
                <a:solidFill>
                  <a:srgbClr val="091F2C"/>
                </a:solidFill>
                <a:latin typeface="Segoe UI"/>
              </a:rPr>
              <a:t>A finding is </a:t>
            </a:r>
            <a:r>
              <a:rPr sz="1600" b="1">
                <a:solidFill>
                  <a:srgbClr val="091F2C"/>
                </a:solidFill>
                <a:latin typeface="Segoe UI"/>
              </a:rPr>
              <a:t>closed only when an eval row covers it</a:t>
            </a:r>
            <a:r>
              <a:rPr sz="1600" b="0">
                <a:solidFill>
                  <a:srgbClr val="091F2C"/>
                </a:solidFill>
                <a:latin typeface="Segoe UI"/>
              </a:rPr>
              <a:t> - not when it is fixed once.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Governance: who is accountable</a:t>
            </a:r>
          </a:p>
        </p:txBody>
      </p:sp>
      <p:pic>
        <p:nvPicPr>
          <p:cNvPr id="3" name="Governance / RACI map: activities by role with Responsible, Accountable, Consulted, Informed assignments" descr="Governance / RACI map: activities by role with Responsible, Accountable, Consulted, Informed assignments"/>
          <p:cNvPicPr>
            <a:picLocks noChangeAspect="1"/>
          </p:cNvPicPr>
          <p:nvPr/>
        </p:nvPicPr>
        <p:blipFill>
          <a:blip r:embed="rId3"/>
          <a:stretch>
            <a:fillRect/>
          </a:stretch>
        </p:blipFill>
        <p:spPr>
          <a:xfrm>
            <a:off x="8260080" y="1828800"/>
            <a:ext cx="3657600" cy="177372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Incidents and continuous improvement</a:t>
            </a:r>
          </a:p>
        </p:txBody>
      </p:sp>
      <p:sp>
        <p:nvSpPr>
          <p:cNvPr id="3" name="TextBox 2"/>
          <p:cNvSpPr txBox="1"/>
          <p:nvPr/>
        </p:nvSpPr>
        <p:spPr>
          <a:xfrm>
            <a:off x="584200" y="1200000"/>
            <a:ext cx="11018838" cy="350000"/>
          </a:xfrm>
          <a:prstGeom prst="rect">
            <a:avLst/>
          </a:prstGeom>
          <a:noFill/>
        </p:spPr>
        <p:txBody>
          <a:bodyPr wrap="square">
            <a:spAutoFit/>
          </a:bodyPr>
          <a:lstStyle/>
          <a:p>
            <a:r>
              <a:rPr sz="1800" b="0">
                <a:solidFill>
                  <a:srgbClr val="555555"/>
                </a:solidFill>
                <a:latin typeface="Segoe UI"/>
              </a:rPr>
              <a:t>Containment first, evidence-backed fix second, and every incident leaves behind a test</a:t>
            </a:r>
          </a:p>
        </p:txBody>
      </p:sp>
      <p:graphicFrame>
        <p:nvGraphicFramePr>
          <p:cNvPr id="4" name="Table 3"/>
          <p:cNvGraphicFramePr>
            <a:graphicFrameLocks noGrp="1"/>
          </p:cNvGraphicFramePr>
          <p:nvPr/>
        </p:nvGraphicFramePr>
        <p:xfrm>
          <a:off x="584200" y="2095500"/>
          <a:ext cx="11018838" cy="1850000"/>
        </p:xfrm>
        <a:graphic>
          <a:graphicData uri="http://schemas.openxmlformats.org/drawingml/2006/table">
            <a:tbl>
              <a:tblPr firstRow="0" bandRow="0" bandCol="0" lastRow="0" firstCol="0" lastCol="0">
                <a:tableStyleId>{5C22544A-7EE6-4342-B048-85BDC9FD1C3A}</a:tableStyleId>
                <a:tblStyleId>{5940675A-B579-460E-94D1-54222C63F5DA}</a:tblStyleId>
              </a:tblPr>
              <a:tblGrid>
                <a:gridCol w="3672946"/>
                <a:gridCol w="3672946"/>
                <a:gridCol w="3672946"/>
              </a:tblGrid>
              <a:tr h="370000">
                <a:tc>
                  <a:txBody>
                    <a:bodyPr/>
                    <a:lstStyle/>
                    <a:p>
                      <a:r>
                        <a:rPr sz="1200" b="1">
                          <a:solidFill>
                            <a:srgbClr val="FFFFFF"/>
                          </a:solidFill>
                          <a:latin typeface="Segoe UI"/>
                        </a:rPr>
                        <a:t>Severity</a:t>
                      </a:r>
                    </a:p>
                  </a:txBody>
                  <a:tcPr>
                    <a:solidFill>
                      <a:srgbClr val="0078D4"/>
                    </a:solidFill>
                  </a:tcPr>
                </a:tc>
                <a:tc>
                  <a:txBody>
                    <a:bodyPr/>
                    <a:lstStyle/>
                    <a:p>
                      <a:r>
                        <a:rPr sz="1200" b="1">
                          <a:solidFill>
                            <a:srgbClr val="FFFFFF"/>
                          </a:solidFill>
                          <a:latin typeface="Segoe UI"/>
                        </a:rPr>
                        <a:t>Example</a:t>
                      </a:r>
                    </a:p>
                  </a:txBody>
                  <a:tcPr>
                    <a:solidFill>
                      <a:srgbClr val="0078D4"/>
                    </a:solidFill>
                  </a:tcPr>
                </a:tc>
                <a:tc>
                  <a:txBody>
                    <a:bodyPr/>
                    <a:lstStyle/>
                    <a:p>
                      <a:r>
                        <a:rPr sz="1200" b="1">
                          <a:solidFill>
                            <a:srgbClr val="FFFFFF"/>
                          </a:solidFill>
                          <a:latin typeface="Segoe UI"/>
                        </a:rPr>
                        <a:t>First action</a:t>
                      </a:r>
                    </a:p>
                  </a:txBody>
                  <a:tcPr>
                    <a:solidFill>
                      <a:srgbClr val="0078D4"/>
                    </a:solidFill>
                  </a:tcPr>
                </a:tc>
              </a:tr>
              <a:tr h="370000">
                <a:tc>
                  <a:txBody>
                    <a:bodyPr/>
                    <a:lstStyle/>
                    <a:p>
                      <a:r>
                        <a:rPr sz="1200" b="0">
                          <a:solidFill>
                            <a:srgbClr val="091F2C"/>
                          </a:solidFill>
                          <a:latin typeface="Segoe UI"/>
                        </a:rPr>
                        <a:t>S1 Critical</a:t>
                      </a:r>
                    </a:p>
                  </a:txBody>
                  <a:tcPr>
                    <a:solidFill>
                      <a:srgbClr val="FFFFFF"/>
                    </a:solidFill>
                  </a:tcPr>
                </a:tc>
                <a:tc>
                  <a:txBody>
                    <a:bodyPr/>
                    <a:lstStyle/>
                    <a:p>
                      <a:r>
                        <a:rPr sz="1200" b="0">
                          <a:solidFill>
                            <a:srgbClr val="091F2C"/>
                          </a:solidFill>
                          <a:latin typeface="Segoe UI"/>
                        </a:rPr>
                        <a:t>Safety event or data leak</a:t>
                      </a:r>
                    </a:p>
                  </a:txBody>
                  <a:tcPr>
                    <a:solidFill>
                      <a:srgbClr val="FFFFFF"/>
                    </a:solidFill>
                  </a:tcPr>
                </a:tc>
                <a:tc>
                  <a:txBody>
                    <a:bodyPr/>
                    <a:lstStyle/>
                    <a:p>
                      <a:r>
                        <a:rPr sz="1200" b="0">
                          <a:solidFill>
                            <a:srgbClr val="091F2C"/>
                          </a:solidFill>
                          <a:latin typeface="Segoe UI"/>
                        </a:rPr>
                        <a:t>Stop gate, rollback to last good version</a:t>
                      </a:r>
                    </a:p>
                  </a:txBody>
                  <a:tcPr>
                    <a:solidFill>
                      <a:srgbClr val="FFFFFF"/>
                    </a:solidFill>
                  </a:tcPr>
                </a:tc>
              </a:tr>
              <a:tr h="370000">
                <a:tc>
                  <a:txBody>
                    <a:bodyPr/>
                    <a:lstStyle/>
                    <a:p>
                      <a:r>
                        <a:rPr sz="1200" b="0">
                          <a:solidFill>
                            <a:srgbClr val="091F2C"/>
                          </a:solidFill>
                          <a:latin typeface="Segoe UI"/>
                        </a:rPr>
                        <a:t>S2 High</a:t>
                      </a:r>
                    </a:p>
                  </a:txBody>
                  <a:tcPr>
                    <a:solidFill>
                      <a:srgbClr val="FFFFFF"/>
                    </a:solidFill>
                  </a:tcPr>
                </a:tc>
                <a:tc>
                  <a:txBody>
                    <a:bodyPr/>
                    <a:lstStyle/>
                    <a:p>
                      <a:r>
                        <a:rPr sz="1200" b="0">
                          <a:solidFill>
                            <a:srgbClr val="091F2C"/>
                          </a:solidFill>
                          <a:latin typeface="Segoe UI"/>
                        </a:rPr>
                        <a:t>Quality / grounding regression</a:t>
                      </a:r>
                    </a:p>
                  </a:txBody>
                  <a:tcPr>
                    <a:solidFill>
                      <a:srgbClr val="FFFFFF"/>
                    </a:solidFill>
                  </a:tcPr>
                </a:tc>
                <a:tc>
                  <a:txBody>
                    <a:bodyPr/>
                    <a:lstStyle/>
                    <a:p>
                      <a:r>
                        <a:rPr sz="1200" b="0">
                          <a:solidFill>
                            <a:srgbClr val="091F2C"/>
                          </a:solidFill>
                          <a:latin typeface="Segoe UI"/>
                        </a:rPr>
                        <a:t>Planned rollback or version pin</a:t>
                      </a:r>
                    </a:p>
                  </a:txBody>
                  <a:tcPr>
                    <a:solidFill>
                      <a:srgbClr val="FFFFFF"/>
                    </a:solidFill>
                  </a:tcPr>
                </a:tc>
              </a:tr>
              <a:tr h="370000">
                <a:tc>
                  <a:txBody>
                    <a:bodyPr/>
                    <a:lstStyle/>
                    <a:p>
                      <a:r>
                        <a:rPr sz="1200" b="0">
                          <a:solidFill>
                            <a:srgbClr val="091F2C"/>
                          </a:solidFill>
                          <a:latin typeface="Segoe UI"/>
                        </a:rPr>
                        <a:t>S3 Medium</a:t>
                      </a:r>
                    </a:p>
                  </a:txBody>
                  <a:tcPr>
                    <a:solidFill>
                      <a:srgbClr val="FFFFFF"/>
                    </a:solidFill>
                  </a:tcPr>
                </a:tc>
                <a:tc>
                  <a:txBody>
                    <a:bodyPr/>
                    <a:lstStyle/>
                    <a:p>
                      <a:r>
                        <a:rPr sz="1200" b="0">
                          <a:solidFill>
                            <a:srgbClr val="091F2C"/>
                          </a:solidFill>
                          <a:latin typeface="Segoe UI"/>
                        </a:rPr>
                        <a:t>Latency or cost spike</a:t>
                      </a:r>
                    </a:p>
                  </a:txBody>
                  <a:tcPr>
                    <a:solidFill>
                      <a:srgbClr val="FFFFFF"/>
                    </a:solidFill>
                  </a:tcPr>
                </a:tc>
                <a:tc>
                  <a:txBody>
                    <a:bodyPr/>
                    <a:lstStyle/>
                    <a:p>
                      <a:r>
                        <a:rPr sz="1200" b="0">
                          <a:solidFill>
                            <a:srgbClr val="091F2C"/>
                          </a:solidFill>
                          <a:latin typeface="Segoe UI"/>
                        </a:rPr>
                        <a:t>Rate-limit, investigate, then act</a:t>
                      </a:r>
                    </a:p>
                  </a:txBody>
                  <a:tcPr>
                    <a:solidFill>
                      <a:srgbClr val="FFFFFF"/>
                    </a:solidFill>
                  </a:tcPr>
                </a:tc>
              </a:tr>
              <a:tr h="370000">
                <a:tc>
                  <a:txBody>
                    <a:bodyPr/>
                    <a:lstStyle/>
                    <a:p>
                      <a:r>
                        <a:rPr sz="1200" b="0">
                          <a:solidFill>
                            <a:srgbClr val="091F2C"/>
                          </a:solidFill>
                          <a:latin typeface="Segoe UI"/>
                        </a:rPr>
                        <a:t>S4 Low</a:t>
                      </a:r>
                    </a:p>
                  </a:txBody>
                  <a:tcPr>
                    <a:solidFill>
                      <a:srgbClr val="FFFFFF"/>
                    </a:solidFill>
                  </a:tcPr>
                </a:tc>
                <a:tc>
                  <a:txBody>
                    <a:bodyPr/>
                    <a:lstStyle/>
                    <a:p>
                      <a:r>
                        <a:rPr sz="1200" b="0">
                          <a:solidFill>
                            <a:srgbClr val="091F2C"/>
                          </a:solidFill>
                          <a:latin typeface="Segoe UI"/>
                        </a:rPr>
                        <a:t>Single-metric drift</a:t>
                      </a:r>
                    </a:p>
                  </a:txBody>
                  <a:tcPr>
                    <a:solidFill>
                      <a:srgbClr val="FFFFFF"/>
                    </a:solidFill>
                  </a:tcPr>
                </a:tc>
                <a:tc>
                  <a:txBody>
                    <a:bodyPr/>
                    <a:lstStyle/>
                    <a:p>
                      <a:r>
                        <a:rPr sz="1200" b="0">
                          <a:solidFill>
                            <a:srgbClr val="091F2C"/>
                          </a:solidFill>
                          <a:latin typeface="Segoe UI"/>
                        </a:rPr>
                        <a:t>Schedule in the next eval cycle</a:t>
                      </a:r>
                    </a:p>
                  </a:txBody>
                  <a:tcPr>
                    <a:solidFill>
                      <a:srgbClr val="FFFFFF"/>
                    </a:solidFill>
                  </a:tcPr>
                </a:tc>
              </a:tr>
            </a:tbl>
          </a:graphicData>
        </a:graphic>
      </p:graphicFrame>
      <p:sp>
        <p:nvSpPr>
          <p:cNvPr id="5" name="TextBox 4"/>
          <p:cNvSpPr txBox="1"/>
          <p:nvPr/>
        </p:nvSpPr>
        <p:spPr>
          <a:xfrm>
            <a:off x="584200" y="4045500"/>
            <a:ext cx="11018838" cy="800000"/>
          </a:xfrm>
          <a:prstGeom prst="rect">
            <a:avLst/>
          </a:prstGeom>
          <a:noFill/>
        </p:spPr>
        <p:txBody>
          <a:bodyPr wrap="square">
            <a:spAutoFit/>
          </a:bodyPr>
          <a:lstStyle/>
          <a:p>
            <a:pPr>
              <a:spcAft>
                <a:spcPts val="400"/>
              </a:spcAft>
            </a:pPr>
            <a:r>
              <a:rPr sz="1600" b="1">
                <a:solidFill>
                  <a:srgbClr val="091F2C"/>
                </a:solidFill>
                <a:latin typeface="Segoe UI"/>
              </a:rPr>
              <a:t>Detect -&gt; Correlate trace -&gt; Identify version -&gt; Contain -&gt; Analyze -&gt; Fix -&gt; Re-evaluate -&gt; Close with evidence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3079000"/>
            <a:ext cx="11018838" cy="700000"/>
          </a:xfrm>
          <a:prstGeom prst="rect">
            <a:avLst/>
          </a:prstGeom>
          <a:noFill/>
        </p:spPr>
        <p:txBody>
          <a:bodyPr wrap="square">
            <a:spAutoFit/>
          </a:bodyPr>
          <a:lstStyle/>
          <a:p>
            <a:pPr algn="l"/>
            <a:r>
              <a:rPr sz="3600" b="0">
                <a:solidFill>
                  <a:srgbClr val="091F2C"/>
                </a:solidFill>
                <a:latin typeface="Segoe UI Semibold"/>
              </a:rPr>
              <a:t>Labs 5 and 6</a:t>
            </a:r>
          </a:p>
        </p:txBody>
      </p:sp>
      <p:sp>
        <p:nvSpPr>
          <p:cNvPr id="3" name="TextBox 2"/>
          <p:cNvSpPr txBox="1"/>
          <p:nvPr/>
        </p:nvSpPr>
        <p:spPr>
          <a:xfrm>
            <a:off x="584200" y="4240850"/>
            <a:ext cx="11018838" cy="600000"/>
          </a:xfrm>
          <a:prstGeom prst="rect">
            <a:avLst/>
          </a:prstGeom>
          <a:noFill/>
        </p:spPr>
        <p:txBody>
          <a:bodyPr wrap="square">
            <a:spAutoFit/>
          </a:bodyPr>
          <a:lstStyle/>
          <a:p>
            <a:pPr algn="l"/>
            <a:r>
              <a:rPr sz="2200" b="0">
                <a:solidFill>
                  <a:srgbClr val="555555"/>
                </a:solidFill>
                <a:latin typeface="Segoe UI"/>
              </a:rPr>
              <a:t>45 + 35 min - safety and governance, then incidents and improvement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3079000"/>
            <a:ext cx="11018838" cy="700000"/>
          </a:xfrm>
          <a:prstGeom prst="rect">
            <a:avLst/>
          </a:prstGeom>
          <a:noFill/>
        </p:spPr>
        <p:txBody>
          <a:bodyPr wrap="square">
            <a:spAutoFit/>
          </a:bodyPr>
          <a:lstStyle/>
          <a:p>
            <a:pPr algn="l"/>
            <a:r>
              <a:rPr sz="3600" b="0">
                <a:solidFill>
                  <a:srgbClr val="091F2C"/>
                </a:solidFill>
                <a:latin typeface="Segoe UI Semibold"/>
              </a:rPr>
              <a:t>Capstone: Production-Readiness Review</a:t>
            </a:r>
          </a:p>
        </p:txBody>
      </p:sp>
      <p:sp>
        <p:nvSpPr>
          <p:cNvPr id="3" name="TextBox 2"/>
          <p:cNvSpPr txBox="1"/>
          <p:nvPr/>
        </p:nvSpPr>
        <p:spPr>
          <a:xfrm>
            <a:off x="584200" y="4240850"/>
            <a:ext cx="11018838" cy="600000"/>
          </a:xfrm>
          <a:prstGeom prst="rect">
            <a:avLst/>
          </a:prstGeom>
          <a:noFill/>
        </p:spPr>
        <p:txBody>
          <a:bodyPr wrap="square">
            <a:spAutoFit/>
          </a:bodyPr>
          <a:lstStyle/>
          <a:p>
            <a:pPr algn="l"/>
            <a:r>
              <a:rPr sz="2200" b="0">
                <a:solidFill>
                  <a:srgbClr val="555555"/>
                </a:solidFill>
                <a:latin typeface="Segoe UI"/>
              </a:rPr>
              <a:t>30 min - compose the evidence and decide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The capstone question</a:t>
            </a:r>
          </a:p>
        </p:txBody>
      </p:sp>
      <p:sp>
        <p:nvSpPr>
          <p:cNvPr id="3" name="TextBox 2"/>
          <p:cNvSpPr txBox="1"/>
          <p:nvPr/>
        </p:nvSpPr>
        <p:spPr>
          <a:xfrm>
            <a:off x="584200" y="1200000"/>
            <a:ext cx="11018838" cy="350000"/>
          </a:xfrm>
          <a:prstGeom prst="rect">
            <a:avLst/>
          </a:prstGeom>
          <a:noFill/>
        </p:spPr>
        <p:txBody>
          <a:bodyPr wrap="square">
            <a:spAutoFit/>
          </a:bodyPr>
          <a:lstStyle/>
          <a:p>
            <a:r>
              <a:rPr sz="1800" b="0">
                <a:solidFill>
                  <a:srgbClr val="555555"/>
                </a:solidFill>
                <a:latin typeface="Segoe UI"/>
              </a:rPr>
              <a:t>If this agent produces a bad answer in production tomorrow, can we find the trace, understand what happened, identify the shipped version, route it to the right owner, and prevent the same failure in the next release?</a:t>
            </a:r>
          </a:p>
        </p:txBody>
      </p:sp>
      <p:sp>
        <p:nvSpPr>
          <p:cNvPr id="4" name="TextBox 3"/>
          <p:cNvSpPr txBox="1"/>
          <p:nvPr/>
        </p:nvSpPr>
        <p:spPr>
          <a:xfrm>
            <a:off x="584200" y="2095500"/>
            <a:ext cx="11018838" cy="4833938"/>
          </a:xfrm>
          <a:prstGeom prst="rect">
            <a:avLst/>
          </a:prstGeom>
          <a:noFill/>
        </p:spPr>
        <p:txBody>
          <a:bodyPr wrap="square">
            <a:spAutoFit/>
          </a:bodyPr>
          <a:lstStyle/>
          <a:p>
            <a:pPr>
              <a:spcAft>
                <a:spcPts val="400"/>
              </a:spcAft>
            </a:pPr>
            <a:r>
              <a:rPr sz="1600">
                <a:solidFill>
                  <a:srgbClr val="091F2C"/>
                </a:solidFill>
                <a:latin typeface="Segoe UI"/>
              </a:rPr>
              <a:t>• </a:t>
            </a:r>
            <a:r>
              <a:rPr sz="1600" b="0">
                <a:solidFill>
                  <a:srgbClr val="091F2C"/>
                </a:solidFill>
                <a:latin typeface="Segoe UI"/>
              </a:rPr>
              <a:t>Answer yes with evidence -&gt; the agent is ready.</a:t>
            </a:r>
          </a:p>
          <a:p>
            <a:pPr>
              <a:spcAft>
                <a:spcPts val="400"/>
              </a:spcAft>
            </a:pPr>
            <a:r>
              <a:rPr sz="1600">
                <a:solidFill>
                  <a:srgbClr val="091F2C"/>
                </a:solidFill>
                <a:latin typeface="Segoe UI"/>
              </a:rPr>
              <a:t>• </a:t>
            </a:r>
            <a:r>
              <a:rPr sz="1600" b="0">
                <a:solidFill>
                  <a:srgbClr val="091F2C"/>
                </a:solidFill>
                <a:latin typeface="Segoe UI"/>
              </a:rPr>
              <a:t>Any missing link -&gt; that is your 30-day plan.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Your 30-day plan</a:t>
            </a:r>
          </a:p>
        </p:txBody>
      </p:sp>
      <p:sp>
        <p:nvSpPr>
          <p:cNvPr id="3" name="TextBox 2"/>
          <p:cNvSpPr txBox="1"/>
          <p:nvPr/>
        </p:nvSpPr>
        <p:spPr>
          <a:xfrm>
            <a:off x="584200" y="1200000"/>
            <a:ext cx="11018838" cy="4833938"/>
          </a:xfrm>
          <a:prstGeom prst="rect">
            <a:avLst/>
          </a:prstGeom>
          <a:noFill/>
        </p:spPr>
        <p:txBody>
          <a:bodyPr wrap="square">
            <a:spAutoFit/>
          </a:bodyPr>
          <a:lstStyle/>
          <a:p>
            <a:pPr>
              <a:spcAft>
                <a:spcPts val="400"/>
              </a:spcAft>
            </a:pPr>
            <a:r>
              <a:rPr sz="1600">
                <a:solidFill>
                  <a:srgbClr val="091F2C"/>
                </a:solidFill>
                <a:latin typeface="Segoe UI"/>
              </a:rPr>
              <a:t>• </a:t>
            </a:r>
            <a:r>
              <a:rPr sz="1600" b="1">
                <a:solidFill>
                  <a:srgbClr val="091F2C"/>
                </a:solidFill>
                <a:latin typeface="Segoe UI"/>
              </a:rPr>
              <a:t>Pick one agent</a:t>
            </a:r>
            <a:r>
              <a:rPr sz="1600" b="0">
                <a:solidFill>
                  <a:srgbClr val="091F2C"/>
                </a:solidFill>
                <a:latin typeface="Segoe UI"/>
              </a:rPr>
              <a:t> that is close to production (done in Lab 1).</a:t>
            </a:r>
          </a:p>
          <a:p>
            <a:pPr>
              <a:spcAft>
                <a:spcPts val="400"/>
              </a:spcAft>
            </a:pPr>
            <a:r>
              <a:rPr sz="1600">
                <a:solidFill>
                  <a:srgbClr val="091F2C"/>
                </a:solidFill>
                <a:latin typeface="Segoe UI"/>
              </a:rPr>
              <a:t>• </a:t>
            </a:r>
            <a:r>
              <a:rPr sz="1600" b="1">
                <a:solidFill>
                  <a:srgbClr val="091F2C"/>
                </a:solidFill>
                <a:latin typeface="Segoe UI"/>
              </a:rPr>
              <a:t>Evaluate</a:t>
            </a:r>
            <a:r>
              <a:rPr sz="1600" b="0">
                <a:solidFill>
                  <a:srgbClr val="091F2C"/>
                </a:solidFill>
                <a:latin typeface="Segoe UI"/>
              </a:rPr>
              <a:t> it with release criteria and a small dataset.</a:t>
            </a:r>
          </a:p>
          <a:p>
            <a:pPr>
              <a:spcAft>
                <a:spcPts val="400"/>
              </a:spcAft>
            </a:pPr>
            <a:r>
              <a:rPr sz="1600">
                <a:solidFill>
                  <a:srgbClr val="091F2C"/>
                </a:solidFill>
                <a:latin typeface="Segoe UI"/>
              </a:rPr>
              <a:t>• </a:t>
            </a:r>
            <a:r>
              <a:rPr sz="1600" b="1">
                <a:solidFill>
                  <a:srgbClr val="091F2C"/>
                </a:solidFill>
                <a:latin typeface="Segoe UI"/>
              </a:rPr>
              <a:t>Ship</a:t>
            </a:r>
            <a:r>
              <a:rPr sz="1600" b="0">
                <a:solidFill>
                  <a:srgbClr val="091F2C"/>
                </a:solidFill>
                <a:latin typeface="Segoe UI"/>
              </a:rPr>
              <a:t> it with PR gates, deploy gates, and readiness evidence.</a:t>
            </a:r>
          </a:p>
          <a:p>
            <a:pPr>
              <a:spcAft>
                <a:spcPts val="400"/>
              </a:spcAft>
            </a:pPr>
            <a:r>
              <a:rPr sz="1600">
                <a:solidFill>
                  <a:srgbClr val="091F2C"/>
                </a:solidFill>
                <a:latin typeface="Segoe UI"/>
              </a:rPr>
              <a:t>• </a:t>
            </a:r>
            <a:r>
              <a:rPr sz="1600" b="1">
                <a:solidFill>
                  <a:srgbClr val="091F2C"/>
                </a:solidFill>
                <a:latin typeface="Segoe UI"/>
              </a:rPr>
              <a:t>Observe</a:t>
            </a:r>
            <a:r>
              <a:rPr sz="1600" b="0">
                <a:solidFill>
                  <a:srgbClr val="091F2C"/>
                </a:solidFill>
                <a:latin typeface="Segoe UI"/>
              </a:rPr>
              <a:t> it with traces, correlation, dashboards, and alerts.</a:t>
            </a:r>
          </a:p>
          <a:p>
            <a:pPr>
              <a:spcAft>
                <a:spcPts val="400"/>
              </a:spcAft>
            </a:pPr>
            <a:r>
              <a:rPr sz="1600">
                <a:solidFill>
                  <a:srgbClr val="091F2C"/>
                </a:solidFill>
                <a:latin typeface="Segoe UI"/>
              </a:rPr>
              <a:t>• </a:t>
            </a:r>
            <a:r>
              <a:rPr sz="1600" b="1">
                <a:solidFill>
                  <a:srgbClr val="091F2C"/>
                </a:solidFill>
                <a:latin typeface="Segoe UI"/>
              </a:rPr>
              <a:t>Operate</a:t>
            </a:r>
            <a:r>
              <a:rPr sz="1600" b="0">
                <a:solidFill>
                  <a:srgbClr val="091F2C"/>
                </a:solidFill>
                <a:latin typeface="Segoe UI"/>
              </a:rPr>
              <a:t> it with safety follow-through, governance, and incident response.</a:t>
            </a:r>
          </a:p>
          <a:p>
            <a:pPr>
              <a:spcAft>
                <a:spcPts val="400"/>
              </a:spcAft>
            </a:pPr>
            <a:r>
              <a:rPr sz="1600">
                <a:solidFill>
                  <a:srgbClr val="091F2C"/>
                </a:solidFill>
                <a:latin typeface="Segoe UI"/>
              </a:rPr>
              <a:t>• </a:t>
            </a:r>
            <a:r>
              <a:rPr sz="1600" b="1">
                <a:solidFill>
                  <a:srgbClr val="091F2C"/>
                </a:solidFill>
                <a:latin typeface="Segoe UI"/>
              </a:rPr>
              <a:t>Feed learnings</a:t>
            </a:r>
            <a:r>
              <a:rPr sz="1600" b="0">
                <a:solidFill>
                  <a:srgbClr val="091F2C"/>
                </a:solidFill>
                <a:latin typeface="Segoe UI"/>
              </a:rPr>
              <a:t> back into the next evaluation cycle.</a:t>
            </a:r>
          </a:p>
          <a:p>
            <a:pPr>
              <a:spcAft>
                <a:spcPts val="400"/>
              </a:spcAft>
            </a:pPr>
            <a:r>
              <a:rPr sz="1600">
                <a:solidFill>
                  <a:srgbClr val="091F2C"/>
                </a:solidFill>
                <a:latin typeface="Segoe UI"/>
              </a:rPr>
              <a:t>• </a:t>
            </a:r>
            <a:r>
              <a:rPr sz="1600" b="1">
                <a:solidFill>
                  <a:srgbClr val="091F2C"/>
                </a:solidFill>
                <a:latin typeface="Segoe UI"/>
              </a:rPr>
              <a:t>Revisit the maturity model</a:t>
            </a:r>
            <a:r>
              <a:rPr sz="1600" b="0">
                <a:solidFill>
                  <a:srgbClr val="091F2C"/>
                </a:solidFill>
                <a:latin typeface="Segoe UI"/>
              </a:rPr>
              <a:t> - aim for the next level within 90 days.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3079000"/>
            <a:ext cx="11018838" cy="700000"/>
          </a:xfrm>
          <a:prstGeom prst="rect">
            <a:avLst/>
          </a:prstGeom>
          <a:noFill/>
        </p:spPr>
        <p:txBody>
          <a:bodyPr wrap="square">
            <a:spAutoFit/>
          </a:bodyPr>
          <a:lstStyle/>
          <a:p>
            <a:pPr algn="l"/>
            <a:r>
              <a:rPr sz="3600" b="0">
                <a:solidFill>
                  <a:srgbClr val="091F2C"/>
                </a:solidFill>
                <a:latin typeface="Segoe UI Semibold"/>
              </a:rPr>
              <a:t>Thank You!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8263" y="457200"/>
            <a:ext cx="11018520" cy="553998"/>
          </a:xfrm>
          <a:prstGeom prst="rect">
            <a:avLst/>
          </a:prstGeom>
          <a:noFill/>
        </p:spPr>
        <p:txBody>
          <a:bodyPr wrap="square">
            <a:spAutoFit/>
          </a:bodyPr>
          <a:lstStyle/>
          <a:p>
            <a:r>
              <a:rPr sz="2800" b="0">
                <a:solidFill>
                  <a:srgbClr val="091F2C"/>
                </a:solidFill>
                <a:latin typeface="Segoe UI Semibold"/>
              </a:rPr>
              <a:t>Resources</a:t>
            </a:r>
          </a:p>
        </p:txBody>
      </p:sp>
      <p:sp>
        <p:nvSpPr>
          <p:cNvPr id="3" name="TextBox 2"/>
          <p:cNvSpPr txBox="1"/>
          <p:nvPr/>
        </p:nvSpPr>
        <p:spPr>
          <a:xfrm>
            <a:off x="584200" y="1200000"/>
            <a:ext cx="11018838" cy="350000"/>
          </a:xfrm>
          <a:prstGeom prst="rect">
            <a:avLst/>
          </a:prstGeom>
          <a:noFill/>
        </p:spPr>
        <p:txBody>
          <a:bodyPr wrap="square">
            <a:spAutoFit/>
          </a:bodyPr>
          <a:lstStyle/>
          <a:p>
            <a:r>
              <a:rPr sz="1800" b="0">
                <a:solidFill>
                  <a:srgbClr val="555555"/>
                </a:solidFill>
                <a:latin typeface="Segoe UI"/>
              </a:rPr>
              <a:t>Further reading</a:t>
            </a:r>
          </a:p>
        </p:txBody>
      </p:sp>
      <p:graphicFrame>
        <p:nvGraphicFramePr>
          <p:cNvPr id="4" name="Table 3"/>
          <p:cNvGraphicFramePr>
            <a:graphicFrameLocks noGrp="1"/>
          </p:cNvGraphicFramePr>
          <p:nvPr/>
        </p:nvGraphicFramePr>
        <p:xfrm>
          <a:off x="584200" y="2095500"/>
          <a:ext cx="11018838" cy="2960000"/>
        </p:xfrm>
        <a:graphic>
          <a:graphicData uri="http://schemas.openxmlformats.org/drawingml/2006/table">
            <a:tbl>
              <a:tblPr firstRow="0" bandRow="0" bandCol="0" lastRow="0" firstCol="0" lastCol="0">
                <a:tableStyleId>{5C22544A-7EE6-4342-B048-85BDC9FD1C3A}</a:tableStyleId>
                <a:tblStyleId>{5940675A-B579-460E-94D1-54222C63F5DA}</a:tblStyleId>
              </a:tblPr>
              <a:tblGrid>
                <a:gridCol w="5509419"/>
                <a:gridCol w="5509419"/>
              </a:tblGrid>
              <a:tr h="370000">
                <a:tc>
                  <a:txBody>
                    <a:bodyPr/>
                    <a:lstStyle/>
                    <a:p>
                      <a:r>
                        <a:rPr sz="1200" b="1">
                          <a:solidFill>
                            <a:srgbClr val="FFFFFF"/>
                          </a:solidFill>
                          <a:latin typeface="Segoe UI"/>
                        </a:rPr>
                        <a:t>Resource</a:t>
                      </a:r>
                    </a:p>
                  </a:txBody>
                  <a:tcPr>
                    <a:solidFill>
                      <a:srgbClr val="0078D4"/>
                    </a:solidFill>
                  </a:tcPr>
                </a:tc>
                <a:tc>
                  <a:txBody>
                    <a:bodyPr/>
                    <a:lstStyle/>
                    <a:p>
                      <a:r>
                        <a:rPr sz="1200" b="1">
                          <a:solidFill>
                            <a:srgbClr val="FFFFFF"/>
                          </a:solidFill>
                          <a:latin typeface="Segoe UI"/>
                        </a:rPr>
                        <a:t>URL</a:t>
                      </a:r>
                    </a:p>
                  </a:txBody>
                  <a:tcPr>
                    <a:solidFill>
                      <a:srgbClr val="0078D4"/>
                    </a:solidFill>
                  </a:tcPr>
                </a:tc>
              </a:tr>
              <a:tr h="370000">
                <a:tc>
                  <a:txBody>
                    <a:bodyPr/>
                    <a:lstStyle/>
                    <a:p>
                      <a:r>
                        <a:rPr sz="1200" b="0">
                          <a:solidFill>
                            <a:srgbClr val="091F2C"/>
                          </a:solidFill>
                          <a:latin typeface="Segoe UI"/>
                        </a:rPr>
                        <a:t>AgentOps Accelerator</a:t>
                      </a:r>
                    </a:p>
                  </a:txBody>
                  <a:tcPr>
                    <a:solidFill>
                      <a:srgbClr val="FFFFFF"/>
                    </a:solidFill>
                  </a:tcPr>
                </a:tc>
                <a:tc>
                  <a:txBody>
                    <a:bodyPr/>
                    <a:lstStyle/>
                    <a:p>
                      <a:r>
                        <a:rPr sz="1200" b="0">
                          <a:solidFill>
                            <a:srgbClr val="091F2C"/>
                          </a:solidFill>
                          <a:latin typeface="Segoe UI"/>
                        </a:rPr>
                        <a:t>https://github.com/Azure/agentops</a:t>
                      </a:r>
                    </a:p>
                  </a:txBody>
                  <a:tcPr>
                    <a:solidFill>
                      <a:srgbClr val="FFFFFF"/>
                    </a:solidFill>
                  </a:tcPr>
                </a:tc>
              </a:tr>
              <a:tr h="370000">
                <a:tc>
                  <a:txBody>
                    <a:bodyPr/>
                    <a:lstStyle/>
                    <a:p>
                      <a:r>
                        <a:rPr sz="1200" b="0">
                          <a:solidFill>
                            <a:srgbClr val="091F2C"/>
                          </a:solidFill>
                          <a:latin typeface="Segoe UI"/>
                        </a:rPr>
                        <a:t>Evaluation approach in Foundry</a:t>
                      </a:r>
                    </a:p>
                  </a:txBody>
                  <a:tcPr>
                    <a:solidFill>
                      <a:srgbClr val="FFFFFF"/>
                    </a:solidFill>
                  </a:tcPr>
                </a:tc>
                <a:tc>
                  <a:txBody>
                    <a:bodyPr/>
                    <a:lstStyle/>
                    <a:p>
                      <a:r>
                        <a:rPr sz="1200" b="0">
                          <a:solidFill>
                            <a:srgbClr val="091F2C"/>
                          </a:solidFill>
                          <a:latin typeface="Segoe UI"/>
                        </a:rPr>
                        <a:t>https://learn.microsoft.com/azure/ai-foundry/concepts/evaluation-approach-gen-ai</a:t>
                      </a:r>
                    </a:p>
                  </a:txBody>
                  <a:tcPr>
                    <a:solidFill>
                      <a:srgbClr val="FFFFFF"/>
                    </a:solidFill>
                  </a:tcPr>
                </a:tc>
              </a:tr>
              <a:tr h="370000">
                <a:tc>
                  <a:txBody>
                    <a:bodyPr/>
                    <a:lstStyle/>
                    <a:p>
                      <a:r>
                        <a:rPr sz="1200" b="0">
                          <a:solidFill>
                            <a:srgbClr val="091F2C"/>
                          </a:solidFill>
                          <a:latin typeface="Segoe UI"/>
                        </a:rPr>
                        <a:t>Agent evaluators</a:t>
                      </a:r>
                    </a:p>
                  </a:txBody>
                  <a:tcPr>
                    <a:solidFill>
                      <a:srgbClr val="FFFFFF"/>
                    </a:solidFill>
                  </a:tcPr>
                </a:tc>
                <a:tc>
                  <a:txBody>
                    <a:bodyPr/>
                    <a:lstStyle/>
                    <a:p>
                      <a:r>
                        <a:rPr sz="1200" b="0">
                          <a:solidFill>
                            <a:srgbClr val="091F2C"/>
                          </a:solidFill>
                          <a:latin typeface="Segoe UI"/>
                        </a:rPr>
                        <a:t>https://learn.microsoft.com/azure/ai-foundry/concepts/evaluation-evaluators/agent-evaluators</a:t>
                      </a:r>
                    </a:p>
                  </a:txBody>
                  <a:tcPr>
                    <a:solidFill>
                      <a:srgbClr val="FFFFFF"/>
                    </a:solidFill>
                  </a:tcPr>
                </a:tc>
              </a:tr>
              <a:tr h="370000">
                <a:tc>
                  <a:txBody>
                    <a:bodyPr/>
                    <a:lstStyle/>
                    <a:p>
                      <a:r>
                        <a:rPr sz="1200" b="0">
                          <a:solidFill>
                            <a:srgbClr val="091F2C"/>
                          </a:solidFill>
                          <a:latin typeface="Segoe UI"/>
                        </a:rPr>
                        <a:t>Agent development lifecycle</a:t>
                      </a:r>
                    </a:p>
                  </a:txBody>
                  <a:tcPr>
                    <a:solidFill>
                      <a:srgbClr val="FFFFFF"/>
                    </a:solidFill>
                  </a:tcPr>
                </a:tc>
                <a:tc>
                  <a:txBody>
                    <a:bodyPr/>
                    <a:lstStyle/>
                    <a:p>
                      <a:r>
                        <a:rPr sz="1200" b="0">
                          <a:solidFill>
                            <a:srgbClr val="091F2C"/>
                          </a:solidFill>
                          <a:latin typeface="Segoe UI"/>
                        </a:rPr>
                        <a:t>https://learn.microsoft.com/azure/ai-foundry/agents/concepts/development-lifecycle</a:t>
                      </a:r>
                    </a:p>
                  </a:txBody>
                  <a:tcPr>
                    <a:solidFill>
                      <a:srgbClr val="FFFFFF"/>
                    </a:solidFill>
                  </a:tcPr>
                </a:tc>
              </a:tr>
              <a:tr h="370000">
                <a:tc>
                  <a:txBody>
                    <a:bodyPr/>
                    <a:lstStyle/>
                    <a:p>
                      <a:r>
                        <a:rPr sz="1200" b="0">
                          <a:solidFill>
                            <a:srgbClr val="091F2C"/>
                          </a:solidFill>
                          <a:latin typeface="Segoe UI"/>
                        </a:rPr>
                        <a:t>Trace agent overview</a:t>
                      </a:r>
                    </a:p>
                  </a:txBody>
                  <a:tcPr>
                    <a:solidFill>
                      <a:srgbClr val="FFFFFF"/>
                    </a:solidFill>
                  </a:tcPr>
                </a:tc>
                <a:tc>
                  <a:txBody>
                    <a:bodyPr/>
                    <a:lstStyle/>
                    <a:p>
                      <a:r>
                        <a:rPr sz="1200" b="0">
                          <a:solidFill>
                            <a:srgbClr val="091F2C"/>
                          </a:solidFill>
                          <a:latin typeface="Segoe UI"/>
                        </a:rPr>
                        <a:t>https://learn.microsoft.com/azure/ai-foundry/observability/concepts/trace-agent-concept</a:t>
                      </a:r>
                    </a:p>
                  </a:txBody>
                  <a:tcPr>
                    <a:solidFill>
                      <a:srgbClr val="FFFFFF"/>
                    </a:solidFill>
                  </a:tcPr>
                </a:tc>
              </a:tr>
              <a:tr h="370000">
                <a:tc>
                  <a:txBody>
                    <a:bodyPr/>
                    <a:lstStyle/>
                    <a:p>
                      <a:r>
                        <a:rPr sz="1200" b="0">
                          <a:solidFill>
                            <a:srgbClr val="091F2C"/>
                          </a:solidFill>
                          <a:latin typeface="Segoe UI"/>
                        </a:rPr>
                        <a:t>Monitor agents dashboard</a:t>
                      </a:r>
                    </a:p>
                  </a:txBody>
                  <a:tcPr>
                    <a:solidFill>
                      <a:srgbClr val="FFFFFF"/>
                    </a:solidFill>
                  </a:tcPr>
                </a:tc>
                <a:tc>
                  <a:txBody>
                    <a:bodyPr/>
                    <a:lstStyle/>
                    <a:p>
                      <a:r>
                        <a:rPr sz="1200" b="0">
                          <a:solidFill>
                            <a:srgbClr val="091F2C"/>
                          </a:solidFill>
                          <a:latin typeface="Segoe UI"/>
                        </a:rPr>
                        <a:t>https://learn.microsoft.com/azure/ai-foundry/observability/how-to/how-to-monitor-agents-dashboard</a:t>
                      </a:r>
                    </a:p>
                  </a:txBody>
                  <a:tcPr>
                    <a:solidFill>
                      <a:srgbClr val="FFFFFF"/>
                    </a:solidFill>
                  </a:tcPr>
                </a:tc>
              </a:tr>
              <a:tr h="370000">
                <a:tc>
                  <a:txBody>
                    <a:bodyPr/>
                    <a:lstStyle/>
                    <a:p>
                      <a:r>
                        <a:rPr sz="1200" b="0">
                          <a:solidFill>
                            <a:srgbClr val="091F2C"/>
                          </a:solidFill>
                          <a:latin typeface="Segoe UI"/>
                        </a:rPr>
                        <a:t>AI red teaming agent</a:t>
                      </a:r>
                    </a:p>
                  </a:txBody>
                  <a:tcPr>
                    <a:solidFill>
                      <a:srgbClr val="FFFFFF"/>
                    </a:solidFill>
                  </a:tcPr>
                </a:tc>
                <a:tc>
                  <a:txBody>
                    <a:bodyPr/>
                    <a:lstStyle/>
                    <a:p>
                      <a:r>
                        <a:rPr sz="1200" b="0">
                          <a:solidFill>
                            <a:srgbClr val="091F2C"/>
                          </a:solidFill>
                          <a:latin typeface="Segoe UI"/>
                        </a:rPr>
                        <a:t>https://learn.microsoft.com/azure/ai-foundry/how-to/develop/run-ai-red-teaming-cloud</a:t>
                      </a:r>
                    </a:p>
                  </a:txBody>
                  <a:tcP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